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Lst>
  <p:notesMasterIdLst>
    <p:notesMasterId r:id="rId18"/>
  </p:notesMasterIdLst>
  <p:handoutMasterIdLst>
    <p:handoutMasterId r:id="rId19"/>
  </p:handoutMasterIdLst>
  <p:sldIdLst>
    <p:sldId id="269" r:id="rId2"/>
    <p:sldId id="258" r:id="rId3"/>
    <p:sldId id="270" r:id="rId4"/>
    <p:sldId id="271" r:id="rId5"/>
    <p:sldId id="272" r:id="rId6"/>
    <p:sldId id="273" r:id="rId7"/>
    <p:sldId id="274" r:id="rId8"/>
    <p:sldId id="275" r:id="rId9"/>
    <p:sldId id="276" r:id="rId10"/>
    <p:sldId id="277" r:id="rId11"/>
    <p:sldId id="278" r:id="rId12"/>
    <p:sldId id="279" r:id="rId13"/>
    <p:sldId id="280" r:id="rId14"/>
    <p:sldId id="281" r:id="rId15"/>
    <p:sldId id="282" r:id="rId16"/>
    <p:sldId id="283"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436C882-A98E-4A3D-8664-D733F7AA272D}" v="2" dt="2025-03-05T12:26:46.63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showGuides="1">
      <p:cViewPr varScale="1">
        <p:scale>
          <a:sx n="95" d="100"/>
          <a:sy n="95" d="100"/>
        </p:scale>
        <p:origin x="206" y="91"/>
      </p:cViewPr>
      <p:guideLst>
        <p:guide orient="horz" pos="2160"/>
        <p:guide pos="3840"/>
      </p:guideLst>
    </p:cSldViewPr>
  </p:slideViewPr>
  <p:notesTextViewPr>
    <p:cViewPr>
      <p:scale>
        <a:sx n="1" d="1"/>
        <a:sy n="1" d="1"/>
      </p:scale>
      <p:origin x="0" y="0"/>
    </p:cViewPr>
  </p:notesTextViewPr>
  <p:notesViewPr>
    <p:cSldViewPr snapToGrid="0" showGuides="1">
      <p:cViewPr varScale="1">
        <p:scale>
          <a:sx n="95" d="100"/>
          <a:sy n="95" d="100"/>
        </p:scale>
        <p:origin x="3582"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6F93605-0C0C-4258-9724-5F2F9BB3BC90}" type="datetimeFigureOut">
              <a:rPr lang="en-US" smtClean="0"/>
              <a:t>3/5/2025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63FFE7F-C917-439A-8026-3D301EB5CC28}" type="slidenum">
              <a:rPr lang="en-US" smtClean="0"/>
              <a:t>‹#›</a:t>
            </a:fld>
            <a:endParaRPr lang="en-US"/>
          </a:p>
        </p:txBody>
      </p:sp>
    </p:spTree>
    <p:extLst>
      <p:ext uri="{BB962C8B-B14F-4D97-AF65-F5344CB8AC3E}">
        <p14:creationId xmlns:p14="http://schemas.microsoft.com/office/powerpoint/2010/main" val="7527998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F31B3D-E4E3-4A80-AB70-C5564C267266}" type="datetimeFigureOut">
              <a:rPr lang="en-US" smtClean="0"/>
              <a:t>3/5/2025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0861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C0B30D-C07A-425B-A90C-BA7BEB191079}" type="slidenum">
              <a:rPr lang="en-US" smtClean="0"/>
              <a:t>‹#›</a:t>
            </a:fld>
            <a:endParaRPr lang="en-US"/>
          </a:p>
        </p:txBody>
      </p:sp>
    </p:spTree>
    <p:extLst>
      <p:ext uri="{BB962C8B-B14F-4D97-AF65-F5344CB8AC3E}">
        <p14:creationId xmlns:p14="http://schemas.microsoft.com/office/powerpoint/2010/main" val="37231904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30792702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77A76A0-A0FB-4933-9981-44A175DEF91B}" type="datetimeFigureOut">
              <a:rPr lang="en-IN" smtClean="0"/>
              <a:t>05-03-2025</a:t>
            </a:fld>
            <a:endParaRPr lang="en-IN"/>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IN"/>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0320F631-8DE2-4D8C-83F4-349FDA1747E0}" type="slidenum">
              <a:rPr lang="en-IN" smtClean="0"/>
              <a:t>‹#›</a:t>
            </a:fld>
            <a:endParaRPr lang="en-IN"/>
          </a:p>
        </p:txBody>
      </p:sp>
    </p:spTree>
    <p:extLst>
      <p:ext uri="{BB962C8B-B14F-4D97-AF65-F5344CB8AC3E}">
        <p14:creationId xmlns:p14="http://schemas.microsoft.com/office/powerpoint/2010/main" val="1252412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7CC0096-1860-4642-9CD2-0079EA5E7CD1}" type="datetimeFigureOut">
              <a:rPr lang="en-US" smtClean="0"/>
              <a:t>3/5/2025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8299096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77A76A0-A0FB-4933-9981-44A175DEF91B}" type="datetimeFigureOut">
              <a:rPr lang="en-IN" smtClean="0"/>
              <a:t>05-03-2025</a:t>
            </a:fld>
            <a:endParaRPr lang="en-IN"/>
          </a:p>
        </p:txBody>
      </p:sp>
      <p:sp>
        <p:nvSpPr>
          <p:cNvPr id="5" name="Footer Placeholder 4"/>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320F631-8DE2-4D8C-83F4-349FDA1747E0}" type="slidenum">
              <a:rPr lang="en-IN" smtClean="0"/>
              <a:t>‹#›</a:t>
            </a:fld>
            <a:endParaRPr lang="en-IN"/>
          </a:p>
        </p:txBody>
      </p:sp>
    </p:spTree>
    <p:extLst>
      <p:ext uri="{BB962C8B-B14F-4D97-AF65-F5344CB8AC3E}">
        <p14:creationId xmlns:p14="http://schemas.microsoft.com/office/powerpoint/2010/main" val="26709147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7CC0096-1860-4642-9CD2-0079EA5E7CD1}" type="datetimeFigureOut">
              <a:rPr lang="en-US" smtClean="0"/>
              <a:t>3/5/2025</a:t>
            </a:fld>
            <a:endParaRPr lang="en-US" dirty="0"/>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713477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7CC0096-1860-4642-9CD2-0079EA5E7CD1}" type="datetimeFigureOut">
              <a:rPr lang="en-US" smtClean="0"/>
              <a:t>3/5/2025</a:t>
            </a:fld>
            <a:endParaRPr lang="en-US" dirty="0"/>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139828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7CC0096-1860-4642-9CD2-0079EA5E7CD1}" type="datetimeFigureOut">
              <a:rPr lang="en-US" smtClean="0"/>
              <a:t>3/5/2025</a:t>
            </a:fld>
            <a:endParaRPr lang="en-US" dirty="0"/>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3931581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7CC0096-1860-4642-9CD2-0079EA5E7CD1}" type="datetimeFigureOut">
              <a:rPr lang="en-US" smtClean="0"/>
              <a:t>3/5/2025</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7538802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CC0096-1860-4642-9CD2-0079EA5E7CD1}" type="datetimeFigureOut">
              <a:rPr lang="en-US" smtClean="0"/>
              <a:t>3/5/2025</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802094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77A76A0-A0FB-4933-9981-44A175DEF91B}" type="datetimeFigureOut">
              <a:rPr lang="en-IN" smtClean="0"/>
              <a:t>05-03-2025</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320F631-8DE2-4D8C-83F4-349FDA1747E0}" type="slidenum">
              <a:rPr lang="en-IN" smtClean="0"/>
              <a:t>‹#›</a:t>
            </a:fld>
            <a:endParaRPr lang="en-IN"/>
          </a:p>
        </p:txBody>
      </p:sp>
    </p:spTree>
    <p:extLst>
      <p:ext uri="{BB962C8B-B14F-4D97-AF65-F5344CB8AC3E}">
        <p14:creationId xmlns:p14="http://schemas.microsoft.com/office/powerpoint/2010/main" val="2246585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CC0096-1860-4642-9CD2-0079EA5E7CD1}" type="datetimeFigureOut">
              <a:rPr lang="en-US" smtClean="0"/>
              <a:pPr/>
              <a:t>3/5/2025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E31375A4-56A4-47D6-9801-1991572033F7}" type="slidenum">
              <a:rPr lang="en-US" smtClean="0"/>
              <a:pPr/>
              <a:t>‹#›</a:t>
            </a:fld>
            <a:endParaRPr lang="en-US" dirty="0"/>
          </a:p>
        </p:txBody>
      </p:sp>
    </p:spTree>
    <p:extLst>
      <p:ext uri="{BB962C8B-B14F-4D97-AF65-F5344CB8AC3E}">
        <p14:creationId xmlns:p14="http://schemas.microsoft.com/office/powerpoint/2010/main" val="38375355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37CC0096-1860-4642-9CD2-0079EA5E7CD1}" type="datetimeFigureOut">
              <a:rPr lang="en-US" smtClean="0"/>
              <a:pPr/>
              <a:t>3/5/2025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E31375A4-56A4-47D6-9801-1991572033F7}" type="slidenum">
              <a:rPr lang="en-US" smtClean="0"/>
              <a:pPr/>
              <a:t>‹#›</a:t>
            </a:fld>
            <a:endParaRPr lang="en-US" dirty="0"/>
          </a:p>
        </p:txBody>
      </p:sp>
    </p:spTree>
    <p:extLst>
      <p:ext uri="{BB962C8B-B14F-4D97-AF65-F5344CB8AC3E}">
        <p14:creationId xmlns:p14="http://schemas.microsoft.com/office/powerpoint/2010/main" val="12304978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37CC0096-1860-4642-9CD2-0079EA5E7CD1}" type="datetimeFigureOut">
              <a:rPr lang="en-US" smtClean="0"/>
              <a:pPr/>
              <a:t>3/5/2025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E31375A4-56A4-47D6-9801-1991572033F7}" type="slidenum">
              <a:rPr lang="en-US" smtClean="0"/>
              <a:pPr/>
              <a:t>‹#›</a:t>
            </a:fld>
            <a:endParaRPr lang="en-US" dirty="0"/>
          </a:p>
        </p:txBody>
      </p:sp>
    </p:spTree>
    <p:extLst>
      <p:ext uri="{BB962C8B-B14F-4D97-AF65-F5344CB8AC3E}">
        <p14:creationId xmlns:p14="http://schemas.microsoft.com/office/powerpoint/2010/main" val="18717308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7CC0096-1860-4642-9CD2-0079EA5E7CD1}" type="datetimeFigureOut">
              <a:rPr lang="en-US" smtClean="0"/>
              <a:pPr/>
              <a:t>3/5/2025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E31375A4-56A4-47D6-9801-1991572033F7}" type="slidenum">
              <a:rPr lang="en-US" smtClean="0"/>
              <a:pPr/>
              <a:t>‹#›</a:t>
            </a:fld>
            <a:endParaRPr lang="en-US" dirty="0"/>
          </a:p>
        </p:txBody>
      </p:sp>
    </p:spTree>
    <p:extLst>
      <p:ext uri="{BB962C8B-B14F-4D97-AF65-F5344CB8AC3E}">
        <p14:creationId xmlns:p14="http://schemas.microsoft.com/office/powerpoint/2010/main" val="25060660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37CC0096-1860-4642-9CD2-0079EA5E7CD1}" type="datetimeFigureOut">
              <a:rPr lang="en-US" smtClean="0"/>
              <a:pPr/>
              <a:t>3/5/2025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E31375A4-56A4-47D6-9801-1991572033F7}" type="slidenum">
              <a:rPr lang="en-US" smtClean="0"/>
              <a:pPr/>
              <a:t>‹#›</a:t>
            </a:fld>
            <a:endParaRPr lang="en-US" dirty="0"/>
          </a:p>
        </p:txBody>
      </p:sp>
    </p:spTree>
    <p:extLst>
      <p:ext uri="{BB962C8B-B14F-4D97-AF65-F5344CB8AC3E}">
        <p14:creationId xmlns:p14="http://schemas.microsoft.com/office/powerpoint/2010/main" val="24811961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37CC0096-1860-4642-9CD2-0079EA5E7CD1}" type="datetimeFigureOut">
              <a:rPr lang="en-US" smtClean="0"/>
              <a:pPr/>
              <a:t>3/5/2025</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E31375A4-56A4-47D6-9801-1991572033F7}" type="slidenum">
              <a:rPr lang="en-US" smtClean="0"/>
              <a:pPr/>
              <a:t>‹#›</a:t>
            </a:fld>
            <a:endParaRPr lang="en-US" dirty="0"/>
          </a:p>
        </p:txBody>
      </p:sp>
    </p:spTree>
    <p:extLst>
      <p:ext uri="{BB962C8B-B14F-4D97-AF65-F5344CB8AC3E}">
        <p14:creationId xmlns:p14="http://schemas.microsoft.com/office/powerpoint/2010/main" val="24092308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37CC0096-1860-4642-9CD2-0079EA5E7CD1}" type="datetimeFigureOut">
              <a:rPr lang="en-US" smtClean="0"/>
              <a:t>3/5/2025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16168570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37CC0096-1860-4642-9CD2-0079EA5E7CD1}" type="datetimeFigureOut">
              <a:rPr lang="en-US" smtClean="0"/>
              <a:t>3/5/2025</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095502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14361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20">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37CC0096-1860-4642-9CD2-0079EA5E7CD1}" type="datetimeFigureOut">
              <a:rPr lang="en-US" smtClean="0"/>
              <a:pPr/>
              <a:t>3/5/2025</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E31375A4-56A4-47D6-9801-1991572033F7}" type="slidenum">
              <a:rPr lang="en-US" smtClean="0"/>
              <a:pPr/>
              <a:t>‹#›</a:t>
            </a:fld>
            <a:endParaRPr lang="en-US" dirty="0"/>
          </a:p>
        </p:txBody>
      </p:sp>
    </p:spTree>
    <p:extLst>
      <p:ext uri="{BB962C8B-B14F-4D97-AF65-F5344CB8AC3E}">
        <p14:creationId xmlns:p14="http://schemas.microsoft.com/office/powerpoint/2010/main" val="1942992481"/>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 id="2147483739" r:id="rId14"/>
    <p:sldLayoutId id="2147483740" r:id="rId15"/>
    <p:sldLayoutId id="2147483741" r:id="rId16"/>
    <p:sldLayoutId id="2147483742" r:id="rId17"/>
    <p:sldLayoutId id="2147483743" r:id="rId1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2"/>
          <p:cNvSpPr/>
          <p:nvPr/>
        </p:nvSpPr>
        <p:spPr>
          <a:xfrm>
            <a:off x="1495128" y="3094039"/>
            <a:ext cx="6223694" cy="694333"/>
          </a:xfrm>
          <a:prstGeom prst="rect">
            <a:avLst/>
          </a:prstGeom>
          <a:noFill/>
          <a:ln/>
        </p:spPr>
        <p:txBody>
          <a:bodyPr wrap="none" rtlCol="0" anchor="t"/>
          <a:lstStyle/>
          <a:p>
            <a:pPr algn="just">
              <a:lnSpc>
                <a:spcPts val="5467"/>
              </a:lnSpc>
            </a:pPr>
            <a:r>
              <a:rPr lang="en-US" sz="4374" b="1" kern="0" spc="-131" dirty="0">
                <a:solidFill>
                  <a:srgbClr val="000000"/>
                </a:solidFill>
                <a:latin typeface="Baskerville Old Face" panose="02020602080505020303" pitchFamily="18" charset="0"/>
                <a:ea typeface="Inter" pitchFamily="34" charset="-122"/>
                <a:cs typeface="Inter" pitchFamily="34" charset="-120"/>
              </a:rPr>
              <a:t>                     </a:t>
            </a:r>
            <a:r>
              <a:rPr lang="en-US" sz="4374" b="1" kern="0" spc="-131" dirty="0">
                <a:solidFill>
                  <a:schemeClr val="accent6"/>
                </a:solidFill>
                <a:latin typeface="Baskerville Old Face" panose="02020602080505020303" pitchFamily="18" charset="0"/>
                <a:ea typeface="Inter" pitchFamily="34" charset="-122"/>
                <a:cs typeface="Inter" pitchFamily="34" charset="-120"/>
              </a:rPr>
              <a:t>SOLEMATES</a:t>
            </a:r>
            <a:endParaRPr lang="en-US" sz="4374" dirty="0">
              <a:solidFill>
                <a:schemeClr val="accent6"/>
              </a:solidFill>
              <a:latin typeface="Baskerville Old Face" panose="02020602080505020303" pitchFamily="18" charset="0"/>
            </a:endParaRPr>
          </a:p>
        </p:txBody>
      </p:sp>
      <p:sp>
        <p:nvSpPr>
          <p:cNvPr id="6" name="Text 3"/>
          <p:cNvSpPr/>
          <p:nvPr/>
        </p:nvSpPr>
        <p:spPr>
          <a:xfrm>
            <a:off x="768102" y="4119785"/>
            <a:ext cx="8795345" cy="296168"/>
          </a:xfrm>
          <a:prstGeom prst="rect">
            <a:avLst/>
          </a:prstGeom>
          <a:noFill/>
          <a:ln/>
        </p:spPr>
        <p:txBody>
          <a:bodyPr wrap="none" rtlCol="0" anchor="t"/>
          <a:lstStyle/>
          <a:p>
            <a:pPr>
              <a:lnSpc>
                <a:spcPts val="2332"/>
              </a:lnSpc>
            </a:pPr>
            <a:r>
              <a:rPr lang="en-US" sz="1667" b="1" kern="0" spc="-29" dirty="0">
                <a:solidFill>
                  <a:srgbClr val="272525"/>
                </a:solidFill>
                <a:latin typeface="Century Schoolbook" panose="02040604050505020304" pitchFamily="18" charset="0"/>
                <a:ea typeface="Inter" pitchFamily="34" charset="-122"/>
                <a:cs typeface="Inter" pitchFamily="34" charset="-120"/>
              </a:rPr>
              <a:t>                                                          </a:t>
            </a:r>
            <a:r>
              <a:rPr lang="en-US" sz="1667" b="1" kern="0" spc="-29" dirty="0">
                <a:latin typeface="Century Schoolbook" panose="02040604050505020304" pitchFamily="18" charset="0"/>
                <a:ea typeface="Inter" pitchFamily="34" charset="-122"/>
                <a:cs typeface="Inter" pitchFamily="34" charset="-120"/>
              </a:rPr>
              <a:t>Developed Using Android Studio</a:t>
            </a:r>
            <a:endParaRPr lang="en-US" sz="1667" b="1" dirty="0">
              <a:latin typeface="Century Schoolbook" panose="02040604050505020304" pitchFamily="18" charset="0"/>
            </a:endParaRPr>
          </a:p>
        </p:txBody>
      </p:sp>
      <p:sp>
        <p:nvSpPr>
          <p:cNvPr id="7" name="Text 4"/>
          <p:cNvSpPr/>
          <p:nvPr/>
        </p:nvSpPr>
        <p:spPr>
          <a:xfrm>
            <a:off x="895102" y="4744771"/>
            <a:ext cx="8795345" cy="296168"/>
          </a:xfrm>
          <a:prstGeom prst="rect">
            <a:avLst/>
          </a:prstGeom>
          <a:noFill/>
          <a:ln/>
        </p:spPr>
        <p:txBody>
          <a:bodyPr wrap="none" rtlCol="0" anchor="t"/>
          <a:lstStyle/>
          <a:p>
            <a:pPr>
              <a:lnSpc>
                <a:spcPts val="2332"/>
              </a:lnSpc>
            </a:pPr>
            <a:r>
              <a:rPr lang="en-US" sz="1667" b="1" kern="0" spc="-29" dirty="0">
                <a:solidFill>
                  <a:srgbClr val="272525"/>
                </a:solidFill>
                <a:latin typeface="Century Schoolbook" panose="02040604050505020304" pitchFamily="18" charset="0"/>
                <a:ea typeface="Inter" pitchFamily="34" charset="-122"/>
                <a:cs typeface="Inter" pitchFamily="34" charset="-120"/>
              </a:rPr>
              <a:t>                                                                          2023-2024</a:t>
            </a:r>
            <a:endParaRPr lang="en-US" sz="1667" b="1" dirty="0">
              <a:latin typeface="Century Schoolbook" panose="02040604050505020304" pitchFamily="18" charset="0"/>
            </a:endParaRPr>
          </a:p>
        </p:txBody>
      </p:sp>
      <p:sp>
        <p:nvSpPr>
          <p:cNvPr id="9" name="TextBox 8"/>
          <p:cNvSpPr txBox="1"/>
          <p:nvPr/>
        </p:nvSpPr>
        <p:spPr>
          <a:xfrm>
            <a:off x="8932333" y="5511733"/>
            <a:ext cx="3437467" cy="707694"/>
          </a:xfrm>
          <a:prstGeom prst="rect">
            <a:avLst/>
          </a:prstGeom>
          <a:noFill/>
        </p:spPr>
        <p:txBody>
          <a:bodyPr wrap="square" rtlCol="0">
            <a:spAutoFit/>
          </a:bodyPr>
          <a:lstStyle/>
          <a:p>
            <a:pPr algn="just"/>
            <a:r>
              <a:rPr lang="en-IN" sz="1333" dirty="0">
                <a:latin typeface="Century Schoolbook" panose="02040604050505020304" pitchFamily="18" charset="0"/>
              </a:rPr>
              <a:t>AFRIN FARHAANA.R</a:t>
            </a:r>
          </a:p>
          <a:p>
            <a:pPr algn="just"/>
            <a:r>
              <a:rPr lang="en-IN" sz="1333" dirty="0">
                <a:latin typeface="Century Schoolbook" panose="02040604050505020304" pitchFamily="18" charset="0"/>
              </a:rPr>
              <a:t>III BCA COMPUTER APPLICATION</a:t>
            </a:r>
          </a:p>
          <a:p>
            <a:pPr algn="just"/>
            <a:r>
              <a:rPr lang="en-IN" sz="1333" dirty="0">
                <a:latin typeface="Century Schoolbook" panose="02040604050505020304" pitchFamily="18" charset="0"/>
              </a:rPr>
              <a:t>BATCH-’B’</a:t>
            </a:r>
          </a:p>
        </p:txBody>
      </p:sp>
    </p:spTree>
    <p:extLst>
      <p:ext uri="{BB962C8B-B14F-4D97-AF65-F5344CB8AC3E}">
        <p14:creationId xmlns:p14="http://schemas.microsoft.com/office/powerpoint/2010/main" val="2529176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72020" y="967454"/>
            <a:ext cx="4834225" cy="878280"/>
          </a:xfrm>
        </p:spPr>
        <p:txBody>
          <a:bodyPr>
            <a:normAutofit/>
          </a:bodyPr>
          <a:lstStyle/>
          <a:p>
            <a:pPr>
              <a:lnSpc>
                <a:spcPts val="3281"/>
              </a:lnSpc>
            </a:pPr>
            <a:r>
              <a:rPr lang="en-US" kern="0" spc="-79" dirty="0">
                <a:solidFill>
                  <a:schemeClr val="accent6"/>
                </a:solidFill>
                <a:latin typeface="Baskerville Old Face" panose="02020602080505020303" pitchFamily="18" charset="0"/>
                <a:ea typeface="Inter" pitchFamily="34" charset="-122"/>
              </a:rPr>
              <a:t>PROJECT ABSTRACT</a:t>
            </a:r>
            <a:endParaRPr lang="en-US" dirty="0">
              <a:solidFill>
                <a:schemeClr val="accent6"/>
              </a:solidFill>
              <a:latin typeface="Baskerville Old Face" panose="02020602080505020303" pitchFamily="18" charset="0"/>
            </a:endParaRPr>
          </a:p>
        </p:txBody>
      </p:sp>
      <p:sp>
        <p:nvSpPr>
          <p:cNvPr id="3" name="Content Placeholder 2"/>
          <p:cNvSpPr>
            <a:spLocks noGrp="1"/>
          </p:cNvSpPr>
          <p:nvPr>
            <p:ph idx="1"/>
          </p:nvPr>
        </p:nvSpPr>
        <p:spPr>
          <a:xfrm>
            <a:off x="946484" y="2783304"/>
            <a:ext cx="10106527" cy="3441033"/>
          </a:xfrm>
          <a:ln>
            <a:noFill/>
          </a:ln>
        </p:spPr>
        <p:txBody>
          <a:bodyPr>
            <a:normAutofit fontScale="92500" lnSpcReduction="10000"/>
          </a:bodyPr>
          <a:lstStyle/>
          <a:p>
            <a:pPr marL="0" indent="0" algn="just">
              <a:buNone/>
            </a:pPr>
            <a:r>
              <a:rPr lang="en-US" dirty="0">
                <a:solidFill>
                  <a:schemeClr val="tx2">
                    <a:lumMod val="95000"/>
                    <a:lumOff val="5000"/>
                  </a:schemeClr>
                </a:solidFill>
                <a:latin typeface="Goudy Old Style" panose="02020502050305020303" pitchFamily="18" charset="0"/>
              </a:rPr>
              <a:t> </a:t>
            </a:r>
            <a:r>
              <a:rPr lang="en-US" dirty="0" err="1">
                <a:solidFill>
                  <a:schemeClr val="tx2">
                    <a:lumMod val="95000"/>
                    <a:lumOff val="5000"/>
                  </a:schemeClr>
                </a:solidFill>
                <a:latin typeface="Goudy Old Style" panose="02020502050305020303" pitchFamily="18" charset="0"/>
              </a:rPr>
              <a:t>Solemates</a:t>
            </a:r>
            <a:r>
              <a:rPr lang="en-US" dirty="0">
                <a:solidFill>
                  <a:schemeClr val="tx2">
                    <a:lumMod val="95000"/>
                    <a:lumOff val="5000"/>
                  </a:schemeClr>
                </a:solidFill>
                <a:latin typeface="Goudy Old Style" panose="02020502050305020303" pitchFamily="18" charset="0"/>
              </a:rPr>
              <a:t> app is a social platform designed for shoe enthusiasts to connect, share, and explore their passion for footwear. Built using Android Studio, the app offers a user-friendly interface with features such as user profiles, a shoe collection showcase, discussion forums, and a marketplace for buying and selling shoes. It is created using android studio and uses firebase as its backend. In a busy world, </a:t>
            </a:r>
            <a:r>
              <a:rPr lang="en-US" dirty="0" err="1">
                <a:solidFill>
                  <a:schemeClr val="tx2">
                    <a:lumMod val="95000"/>
                    <a:lumOff val="5000"/>
                  </a:schemeClr>
                </a:solidFill>
                <a:latin typeface="Goudy Old Style" panose="02020502050305020303" pitchFamily="18" charset="0"/>
              </a:rPr>
              <a:t>Solemates</a:t>
            </a:r>
            <a:r>
              <a:rPr lang="en-US" dirty="0">
                <a:solidFill>
                  <a:schemeClr val="tx2">
                    <a:lumMod val="95000"/>
                    <a:lumOff val="5000"/>
                  </a:schemeClr>
                </a:solidFill>
                <a:latin typeface="Goudy Old Style" panose="02020502050305020303" pitchFamily="18" charset="0"/>
              </a:rPr>
              <a:t> allows you to purchase the shoes easily from their home. The app offers intuitive search and navigation functionalities, enabling users to quickly find specific shoes. The shoes are categorized in different types which allows the users to browse through a variety of shoes in the same type, providing users an organized form through which they can browse and but their </a:t>
            </a:r>
            <a:r>
              <a:rPr lang="en-US" dirty="0" err="1">
                <a:solidFill>
                  <a:schemeClr val="tx2">
                    <a:lumMod val="95000"/>
                    <a:lumOff val="5000"/>
                  </a:schemeClr>
                </a:solidFill>
                <a:latin typeface="Goudy Old Style" panose="02020502050305020303" pitchFamily="18" charset="0"/>
              </a:rPr>
              <a:t>favourite</a:t>
            </a:r>
            <a:r>
              <a:rPr lang="en-US" dirty="0">
                <a:solidFill>
                  <a:schemeClr val="tx2">
                    <a:lumMod val="95000"/>
                    <a:lumOff val="5000"/>
                  </a:schemeClr>
                </a:solidFill>
                <a:latin typeface="Goudy Old Style" panose="02020502050305020303" pitchFamily="18" charset="0"/>
              </a:rPr>
              <a:t> shoes, whether users seek adidas, </a:t>
            </a:r>
            <a:r>
              <a:rPr lang="en-US" dirty="0" err="1">
                <a:solidFill>
                  <a:schemeClr val="tx2">
                    <a:lumMod val="95000"/>
                    <a:lumOff val="5000"/>
                  </a:schemeClr>
                </a:solidFill>
                <a:latin typeface="Goudy Old Style" panose="02020502050305020303" pitchFamily="18" charset="0"/>
              </a:rPr>
              <a:t>nike</a:t>
            </a:r>
            <a:r>
              <a:rPr lang="en-US" dirty="0">
                <a:solidFill>
                  <a:schemeClr val="tx2">
                    <a:lumMod val="95000"/>
                    <a:lumOff val="5000"/>
                  </a:schemeClr>
                </a:solidFill>
                <a:latin typeface="Goudy Old Style" panose="02020502050305020303" pitchFamily="18" charset="0"/>
              </a:rPr>
              <a:t>, or puma, they can find an extensive selection to suit their tastes and interests. </a:t>
            </a:r>
            <a:r>
              <a:rPr lang="en-US" dirty="0" err="1">
                <a:solidFill>
                  <a:schemeClr val="tx2">
                    <a:lumMod val="95000"/>
                    <a:lumOff val="5000"/>
                  </a:schemeClr>
                </a:solidFill>
                <a:latin typeface="Goudy Old Style" panose="02020502050305020303" pitchFamily="18" charset="0"/>
              </a:rPr>
              <a:t>Solemates</a:t>
            </a:r>
            <a:r>
              <a:rPr lang="en-US" dirty="0">
                <a:solidFill>
                  <a:schemeClr val="tx2">
                    <a:lumMod val="95000"/>
                    <a:lumOff val="5000"/>
                  </a:schemeClr>
                </a:solidFill>
                <a:latin typeface="Goudy Old Style" panose="02020502050305020303" pitchFamily="18" charset="0"/>
              </a:rPr>
              <a:t> provides a vibrant community to engage with like-minded individuals and discover the latest trends in footwear. The main purpose of </a:t>
            </a:r>
            <a:r>
              <a:rPr lang="en-US" dirty="0" err="1">
                <a:solidFill>
                  <a:schemeClr val="tx2">
                    <a:lumMod val="95000"/>
                    <a:lumOff val="5000"/>
                  </a:schemeClr>
                </a:solidFill>
                <a:latin typeface="Goudy Old Style" panose="02020502050305020303" pitchFamily="18" charset="0"/>
              </a:rPr>
              <a:t>Solemates</a:t>
            </a:r>
            <a:r>
              <a:rPr lang="en-US" dirty="0">
                <a:solidFill>
                  <a:schemeClr val="tx2">
                    <a:lumMod val="95000"/>
                    <a:lumOff val="5000"/>
                  </a:schemeClr>
                </a:solidFill>
                <a:latin typeface="Goudy Old Style" panose="02020502050305020303" pitchFamily="18" charset="0"/>
              </a:rPr>
              <a:t> is to allow users to buy the shoes directly for the authorized  such that shops there is little to no chance of getting rare shoes. The products are sold at an affordable price as this approach eliminates multiple middlemen. The shoes  and the rightful owners also get many leads to sell their products. As we move forward, </a:t>
            </a:r>
            <a:r>
              <a:rPr lang="en-US" dirty="0" err="1">
                <a:solidFill>
                  <a:schemeClr val="tx2">
                    <a:lumMod val="95000"/>
                    <a:lumOff val="5000"/>
                  </a:schemeClr>
                </a:solidFill>
                <a:latin typeface="Goudy Old Style" panose="02020502050305020303" pitchFamily="18" charset="0"/>
              </a:rPr>
              <a:t>Solemates</a:t>
            </a:r>
            <a:r>
              <a:rPr lang="en-US" dirty="0">
                <a:solidFill>
                  <a:schemeClr val="tx2">
                    <a:lumMod val="95000"/>
                    <a:lumOff val="5000"/>
                  </a:schemeClr>
                </a:solidFill>
                <a:latin typeface="Goudy Old Style" panose="02020502050305020303" pitchFamily="18" charset="0"/>
              </a:rPr>
              <a:t> ensures user experience, making it the perfect digital companion for sneakerheads, collectors, and anyone with a love for shoes. </a:t>
            </a:r>
            <a:endParaRPr lang="en-IN" dirty="0">
              <a:solidFill>
                <a:schemeClr val="tx2">
                  <a:lumMod val="95000"/>
                  <a:lumOff val="5000"/>
                </a:schemeClr>
              </a:solidFill>
              <a:latin typeface="Goudy Old Style" panose="02020502050305020303" pitchFamily="18" charset="0"/>
            </a:endParaRPr>
          </a:p>
        </p:txBody>
      </p:sp>
    </p:spTree>
    <p:extLst>
      <p:ext uri="{BB962C8B-B14F-4D97-AF65-F5344CB8AC3E}">
        <p14:creationId xmlns:p14="http://schemas.microsoft.com/office/powerpoint/2010/main" val="22535369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96734" y="975921"/>
            <a:ext cx="5541312" cy="878280"/>
          </a:xfrm>
        </p:spPr>
        <p:txBody>
          <a:bodyPr>
            <a:normAutofit fontScale="90000"/>
          </a:bodyPr>
          <a:lstStyle/>
          <a:p>
            <a:pPr>
              <a:lnSpc>
                <a:spcPts val="3281"/>
              </a:lnSpc>
            </a:pPr>
            <a:r>
              <a:rPr lang="en-US" kern="0" spc="-79" dirty="0">
                <a:solidFill>
                  <a:schemeClr val="accent6"/>
                </a:solidFill>
                <a:latin typeface="Baskerville Old Face" panose="02020602080505020303" pitchFamily="18" charset="0"/>
                <a:ea typeface="Inter" pitchFamily="34" charset="-122"/>
              </a:rPr>
              <a:t>PROJECT  INTRODUCTION</a:t>
            </a:r>
            <a:endParaRPr lang="en-US" dirty="0">
              <a:solidFill>
                <a:schemeClr val="accent6"/>
              </a:solidFill>
              <a:latin typeface="Baskerville Old Face" panose="02020602080505020303" pitchFamily="18" charset="0"/>
            </a:endParaRPr>
          </a:p>
        </p:txBody>
      </p:sp>
      <p:sp>
        <p:nvSpPr>
          <p:cNvPr id="3" name="Content Placeholder 2"/>
          <p:cNvSpPr>
            <a:spLocks noGrp="1"/>
          </p:cNvSpPr>
          <p:nvPr>
            <p:ph idx="1"/>
          </p:nvPr>
        </p:nvSpPr>
        <p:spPr>
          <a:xfrm>
            <a:off x="1066800" y="2590800"/>
            <a:ext cx="10058400" cy="4267200"/>
          </a:xfrm>
          <a:ln>
            <a:noFill/>
          </a:ln>
        </p:spPr>
        <p:txBody>
          <a:bodyPr>
            <a:normAutofit/>
          </a:bodyPr>
          <a:lstStyle/>
          <a:p>
            <a:pPr marL="0" indent="0" algn="just">
              <a:buNone/>
            </a:pPr>
            <a:r>
              <a:rPr lang="en-US" sz="1600" dirty="0">
                <a:solidFill>
                  <a:srgbClr val="002060"/>
                </a:solidFill>
                <a:latin typeface="Goudy Old Style" panose="02020502050305020303" pitchFamily="18" charset="0"/>
              </a:rPr>
              <a:t>Android is a new, next-gen mobile operating system that runs on the Linux Kernel. Android Mobile Application Development is based on Java language codes, as it allows developers to write codes in the Java language. It is an important platform to develop mobile applications using the software stack provided in the Google Android SDK. Android mobile OS provides a flexible environment for Android Mobile Application Development as the developers can not only make use of Android Java Libraries but it is also possible to use normal Java IDEs. As of 2024, nearly 3.9 billion people are Android Smartphone users. Using Android studio and its rich libraries, </a:t>
            </a:r>
            <a:r>
              <a:rPr lang="en-US" sz="1600" dirty="0" err="1">
                <a:solidFill>
                  <a:srgbClr val="002060"/>
                </a:solidFill>
                <a:latin typeface="Goudy Old Style" panose="02020502050305020303" pitchFamily="18" charset="0"/>
              </a:rPr>
              <a:t>Solemates</a:t>
            </a:r>
            <a:r>
              <a:rPr lang="en-US" sz="1600" dirty="0">
                <a:solidFill>
                  <a:srgbClr val="002060"/>
                </a:solidFill>
                <a:latin typeface="Goudy Old Style" panose="02020502050305020303" pitchFamily="18" charset="0"/>
              </a:rPr>
              <a:t> is created. </a:t>
            </a:r>
            <a:r>
              <a:rPr lang="en-US" sz="1600" dirty="0" err="1">
                <a:solidFill>
                  <a:srgbClr val="002060"/>
                </a:solidFill>
                <a:latin typeface="Goudy Old Style" panose="02020502050305020303" pitchFamily="18" charset="0"/>
              </a:rPr>
              <a:t>Solemates</a:t>
            </a:r>
            <a:r>
              <a:rPr lang="en-US" sz="1600" dirty="0">
                <a:solidFill>
                  <a:srgbClr val="002060"/>
                </a:solidFill>
                <a:latin typeface="Goudy Old Style" panose="02020502050305020303" pitchFamily="18" charset="0"/>
              </a:rPr>
              <a:t> is a shoe shopping app which provides great user experience by having a broad collection of shoes which are categorized based on typical types .Android Studio-Utilized for app development, UI design using XML , and implementing Java code for functionalities. Java-Primary programming language for app logic, user interactions, data processing, and integrating with </a:t>
            </a:r>
            <a:r>
              <a:rPr lang="en-US" sz="1600" dirty="0" err="1">
                <a:solidFill>
                  <a:srgbClr val="002060"/>
                </a:solidFill>
                <a:latin typeface="Goudy Old Style" panose="02020502050305020303" pitchFamily="18" charset="0"/>
              </a:rPr>
              <a:t>FireBase</a:t>
            </a:r>
            <a:r>
              <a:rPr lang="en-US" sz="1600" dirty="0">
                <a:solidFill>
                  <a:srgbClr val="002060"/>
                </a:solidFill>
                <a:latin typeface="Goudy Old Style" panose="02020502050305020303" pitchFamily="18" charset="0"/>
              </a:rPr>
              <a:t> services. Integrated </a:t>
            </a:r>
            <a:r>
              <a:rPr lang="en-US" sz="1600" dirty="0" err="1">
                <a:solidFill>
                  <a:srgbClr val="002060"/>
                </a:solidFill>
                <a:latin typeface="Goudy Old Style" panose="02020502050305020303" pitchFamily="18" charset="0"/>
              </a:rPr>
              <a:t>FireBase</a:t>
            </a:r>
            <a:r>
              <a:rPr lang="en-US" sz="1600" dirty="0">
                <a:solidFill>
                  <a:srgbClr val="002060"/>
                </a:solidFill>
                <a:latin typeface="Goudy Old Style" panose="02020502050305020303" pitchFamily="18" charset="0"/>
              </a:rPr>
              <a:t> services such as </a:t>
            </a:r>
            <a:r>
              <a:rPr lang="en-US" sz="1600" dirty="0" err="1">
                <a:solidFill>
                  <a:srgbClr val="002060"/>
                </a:solidFill>
                <a:latin typeface="Goudy Old Style" panose="02020502050305020303" pitchFamily="18" charset="0"/>
              </a:rPr>
              <a:t>Firestore</a:t>
            </a:r>
            <a:r>
              <a:rPr lang="en-US" sz="1600" dirty="0">
                <a:solidFill>
                  <a:srgbClr val="002060"/>
                </a:solidFill>
                <a:latin typeface="Goudy Old Style" panose="02020502050305020303" pitchFamily="18" charset="0"/>
              </a:rPr>
              <a:t> Database, authentication.</a:t>
            </a:r>
            <a:endParaRPr lang="en-IN" sz="1600" dirty="0">
              <a:solidFill>
                <a:srgbClr val="002060"/>
              </a:solidFill>
              <a:latin typeface="Goudy Old Style" panose="02020502050305020303" pitchFamily="18" charset="0"/>
            </a:endParaRPr>
          </a:p>
        </p:txBody>
      </p:sp>
    </p:spTree>
    <p:extLst>
      <p:ext uri="{BB962C8B-B14F-4D97-AF65-F5344CB8AC3E}">
        <p14:creationId xmlns:p14="http://schemas.microsoft.com/office/powerpoint/2010/main" val="34912191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10668" y="518720"/>
            <a:ext cx="5541312" cy="878280"/>
          </a:xfrm>
        </p:spPr>
        <p:txBody>
          <a:bodyPr>
            <a:normAutofit/>
          </a:bodyPr>
          <a:lstStyle/>
          <a:p>
            <a:pPr>
              <a:lnSpc>
                <a:spcPts val="3281"/>
              </a:lnSpc>
            </a:pPr>
            <a:r>
              <a:rPr lang="en-US" b="1" kern="0" spc="-79" dirty="0">
                <a:solidFill>
                  <a:schemeClr val="accent6"/>
                </a:solidFill>
                <a:latin typeface="Baskerville Old Face" panose="02020602080505020303" pitchFamily="18" charset="0"/>
                <a:ea typeface="Inter" pitchFamily="34" charset="-122"/>
              </a:rPr>
              <a:t>1</a:t>
            </a:r>
            <a:r>
              <a:rPr lang="en-US" kern="0" spc="-79" dirty="0">
                <a:solidFill>
                  <a:schemeClr val="accent6"/>
                </a:solidFill>
                <a:latin typeface="Baskerville Old Face" panose="02020602080505020303" pitchFamily="18" charset="0"/>
                <a:ea typeface="Inter" pitchFamily="34" charset="-122"/>
              </a:rPr>
              <a:t>. SPLASH SCREEN</a:t>
            </a:r>
            <a:endParaRPr lang="en-US" dirty="0">
              <a:solidFill>
                <a:schemeClr val="accent6"/>
              </a:solidFill>
              <a:latin typeface="Baskerville Old Face" panose="02020602080505020303" pitchFamily="18" charset="0"/>
            </a:endParaRPr>
          </a:p>
        </p:txBody>
      </p:sp>
      <p:sp>
        <p:nvSpPr>
          <p:cNvPr id="3" name="Content Placeholder 2"/>
          <p:cNvSpPr>
            <a:spLocks noGrp="1"/>
          </p:cNvSpPr>
          <p:nvPr>
            <p:ph idx="1"/>
          </p:nvPr>
        </p:nvSpPr>
        <p:spPr>
          <a:xfrm>
            <a:off x="3521242" y="2558716"/>
            <a:ext cx="7603957" cy="2975810"/>
          </a:xfrm>
          <a:ln>
            <a:noFill/>
          </a:ln>
        </p:spPr>
        <p:txBody>
          <a:bodyPr>
            <a:normAutofit/>
          </a:bodyPr>
          <a:lstStyle/>
          <a:p>
            <a:pPr marL="0" indent="0">
              <a:lnSpc>
                <a:spcPts val="2799"/>
              </a:lnSpc>
              <a:buNone/>
            </a:pPr>
            <a:endParaRPr lang="en-US" sz="2000" kern="0" spc="-35" dirty="0">
              <a:solidFill>
                <a:srgbClr val="272525"/>
              </a:solidFill>
              <a:latin typeface="Goudy Old Style" panose="02020502050305020303" pitchFamily="18" charset="0"/>
              <a:ea typeface="Inter" pitchFamily="34" charset="-122"/>
              <a:cs typeface="Inter" pitchFamily="34" charset="-120"/>
            </a:endParaRPr>
          </a:p>
          <a:p>
            <a:pPr marL="0" indent="0">
              <a:lnSpc>
                <a:spcPts val="2799"/>
              </a:lnSpc>
              <a:buNone/>
            </a:pPr>
            <a:r>
              <a:rPr lang="en-US" sz="2000" kern="0" spc="-35" dirty="0">
                <a:solidFill>
                  <a:srgbClr val="002060"/>
                </a:solidFill>
                <a:latin typeface="Goudy Old Style" panose="02020502050305020303" pitchFamily="18" charset="0"/>
                <a:ea typeface="Inter" pitchFamily="34" charset="-122"/>
                <a:cs typeface="Inter" pitchFamily="34" charset="-120"/>
              </a:rPr>
              <a:t>PLATFORM USED-ANDRIOD STUDIO</a:t>
            </a:r>
          </a:p>
          <a:p>
            <a:pPr marL="0" indent="0">
              <a:lnSpc>
                <a:spcPts val="2799"/>
              </a:lnSpc>
              <a:buNone/>
            </a:pPr>
            <a:r>
              <a:rPr lang="en-US" sz="2000" kern="0" spc="-35" dirty="0">
                <a:solidFill>
                  <a:srgbClr val="002060"/>
                </a:solidFill>
                <a:latin typeface="Goudy Old Style" panose="02020502050305020303" pitchFamily="18" charset="0"/>
                <a:ea typeface="Microsoft JhengHei Light" panose="020B0304030504040204" pitchFamily="34" charset="-120"/>
                <a:cs typeface="Inter" pitchFamily="34" charset="-120"/>
              </a:rPr>
              <a:t>-</a:t>
            </a:r>
            <a:r>
              <a:rPr lang="en-US" sz="2000" kern="0" spc="-35" dirty="0">
                <a:solidFill>
                  <a:srgbClr val="002060"/>
                </a:solidFill>
                <a:latin typeface="Goudy Old Style" panose="02020502050305020303" pitchFamily="18" charset="0"/>
                <a:ea typeface="Cambria Math" panose="02040503050406030204" pitchFamily="18" charset="0"/>
                <a:cs typeface="Inter" pitchFamily="34" charset="-120"/>
              </a:rPr>
              <a:t>utilizing Java as the primary programming language to make to screen stay for 2000ms </a:t>
            </a:r>
            <a:endParaRPr lang="en-US" sz="2000" dirty="0">
              <a:solidFill>
                <a:srgbClr val="002060"/>
              </a:solidFill>
              <a:latin typeface="Goudy Old Style" panose="02020502050305020303" pitchFamily="18" charset="0"/>
              <a:ea typeface="Cambria Math" panose="02040503050406030204" pitchFamily="18" charset="0"/>
            </a:endParaRPr>
          </a:p>
          <a:p>
            <a:pPr marL="0" indent="0">
              <a:lnSpc>
                <a:spcPts val="2799"/>
              </a:lnSpc>
              <a:buNone/>
            </a:pPr>
            <a:r>
              <a:rPr lang="en-US" sz="2000" kern="0" spc="-35" dirty="0">
                <a:solidFill>
                  <a:srgbClr val="002060"/>
                </a:solidFill>
                <a:latin typeface="Goudy Old Style" panose="02020502050305020303" pitchFamily="18" charset="0"/>
                <a:ea typeface="Cambria Math" panose="02040503050406030204" pitchFamily="18" charset="0"/>
                <a:cs typeface="Inter" pitchFamily="34" charset="-120"/>
              </a:rPr>
              <a:t> -XML- for designing the user interface</a:t>
            </a:r>
            <a:r>
              <a:rPr lang="en-US" sz="2000" kern="0" spc="-35" dirty="0">
                <a:solidFill>
                  <a:srgbClr val="002060"/>
                </a:solidFill>
                <a:latin typeface="Cambria Math" panose="02040503050406030204" pitchFamily="18" charset="0"/>
                <a:ea typeface="Cambria Math" panose="02040503050406030204" pitchFamily="18" charset="0"/>
                <a:cs typeface="Inter" pitchFamily="34" charset="-120"/>
              </a:rPr>
              <a:t>.</a:t>
            </a:r>
            <a:endParaRPr lang="en-US" sz="2000" dirty="0">
              <a:solidFill>
                <a:srgbClr val="002060"/>
              </a:solidFill>
              <a:latin typeface="Cambria Math" panose="02040503050406030204" pitchFamily="18" charset="0"/>
              <a:ea typeface="Cambria Math" panose="02040503050406030204" pitchFamily="18" charset="0"/>
            </a:endParaRPr>
          </a:p>
          <a:p>
            <a:pPr marL="0" indent="0">
              <a:lnSpc>
                <a:spcPts val="2799"/>
              </a:lnSpc>
              <a:buNone/>
            </a:pPr>
            <a:endParaRPr lang="en-US" sz="2000" dirty="0">
              <a:latin typeface="Goudy Old Style" panose="02020502050305020303"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rcRect/>
          <a:stretch/>
        </p:blipFill>
        <p:spPr>
          <a:xfrm>
            <a:off x="298939" y="262467"/>
            <a:ext cx="2907323" cy="6299200"/>
          </a:xfrm>
          <a:prstGeom prst="rect">
            <a:avLst/>
          </a:prstGeom>
        </p:spPr>
      </p:pic>
    </p:spTree>
    <p:extLst>
      <p:ext uri="{BB962C8B-B14F-4D97-AF65-F5344CB8AC3E}">
        <p14:creationId xmlns:p14="http://schemas.microsoft.com/office/powerpoint/2010/main" val="3636858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53001" y="1001320"/>
            <a:ext cx="5541312" cy="878280"/>
          </a:xfrm>
        </p:spPr>
        <p:txBody>
          <a:bodyPr>
            <a:normAutofit/>
          </a:bodyPr>
          <a:lstStyle/>
          <a:p>
            <a:pPr>
              <a:lnSpc>
                <a:spcPts val="5468"/>
              </a:lnSpc>
            </a:pPr>
            <a:r>
              <a:rPr lang="en-US" b="1" kern="0" spc="-79" dirty="0">
                <a:solidFill>
                  <a:schemeClr val="accent6"/>
                </a:solidFill>
                <a:latin typeface="Baskerville Old Face" panose="02020602080505020303" pitchFamily="18" charset="0"/>
                <a:ea typeface="Inter" pitchFamily="34" charset="-122"/>
              </a:rPr>
              <a:t>2</a:t>
            </a:r>
            <a:r>
              <a:rPr lang="en-US" kern="0" spc="-79" dirty="0">
                <a:solidFill>
                  <a:schemeClr val="accent6"/>
                </a:solidFill>
                <a:latin typeface="Baskerville Old Face" panose="02020602080505020303" pitchFamily="18" charset="0"/>
                <a:ea typeface="Inter" pitchFamily="34" charset="-122"/>
              </a:rPr>
              <a:t>. </a:t>
            </a:r>
            <a:r>
              <a:rPr lang="en-US" b="1" kern="0" spc="-131" dirty="0">
                <a:solidFill>
                  <a:schemeClr val="accent6"/>
                </a:solidFill>
                <a:latin typeface="Goudy Old Style" panose="02020502050305020303" pitchFamily="18" charset="0"/>
                <a:ea typeface="Inter" pitchFamily="34" charset="-122"/>
                <a:cs typeface="Inter" pitchFamily="34" charset="-120"/>
              </a:rPr>
              <a:t>WELCOME</a:t>
            </a:r>
            <a:r>
              <a:rPr lang="en-US" kern="0" spc="-131" dirty="0">
                <a:solidFill>
                  <a:schemeClr val="accent6"/>
                </a:solidFill>
                <a:latin typeface="Goudy Old Style" panose="02020502050305020303" pitchFamily="18" charset="0"/>
                <a:ea typeface="Inter" pitchFamily="34" charset="-122"/>
                <a:cs typeface="Inter" pitchFamily="34" charset="-120"/>
              </a:rPr>
              <a:t> </a:t>
            </a:r>
            <a:r>
              <a:rPr lang="en-US" b="1" kern="0" spc="-131" dirty="0">
                <a:solidFill>
                  <a:schemeClr val="accent6"/>
                </a:solidFill>
                <a:latin typeface="Goudy Old Style" panose="02020502050305020303" pitchFamily="18" charset="0"/>
                <a:ea typeface="Inter" pitchFamily="34" charset="-122"/>
                <a:cs typeface="Inter" pitchFamily="34" charset="-120"/>
              </a:rPr>
              <a:t>SCREEN</a:t>
            </a:r>
            <a:endParaRPr lang="en-US" b="1" dirty="0">
              <a:solidFill>
                <a:schemeClr val="accent6"/>
              </a:solidFill>
              <a:latin typeface="Goudy Old Style" panose="02020502050305020303" pitchFamily="18" charset="0"/>
            </a:endParaRPr>
          </a:p>
        </p:txBody>
      </p:sp>
      <p:sp>
        <p:nvSpPr>
          <p:cNvPr id="3" name="Content Placeholder 2"/>
          <p:cNvSpPr>
            <a:spLocks noGrp="1"/>
          </p:cNvSpPr>
          <p:nvPr>
            <p:ph idx="1"/>
          </p:nvPr>
        </p:nvSpPr>
        <p:spPr>
          <a:xfrm>
            <a:off x="3657600" y="2614863"/>
            <a:ext cx="7433732" cy="2753004"/>
          </a:xfrm>
          <a:ln>
            <a:noFill/>
          </a:ln>
        </p:spPr>
        <p:txBody>
          <a:bodyPr>
            <a:normAutofit/>
          </a:bodyPr>
          <a:lstStyle/>
          <a:p>
            <a:pPr marL="0" indent="0">
              <a:lnSpc>
                <a:spcPts val="2799"/>
              </a:lnSpc>
              <a:buNone/>
            </a:pPr>
            <a:r>
              <a:rPr lang="en-US" sz="2000" kern="0" spc="-35" dirty="0">
                <a:solidFill>
                  <a:srgbClr val="002060"/>
                </a:solidFill>
                <a:latin typeface="Goudy Old Style" panose="02020502050305020303" pitchFamily="18" charset="0"/>
                <a:ea typeface="Inter" pitchFamily="34" charset="-122"/>
                <a:cs typeface="Inter" pitchFamily="34" charset="-120"/>
              </a:rPr>
              <a:t>PLATFORM USED-ANDRIOD STUDIO</a:t>
            </a:r>
          </a:p>
          <a:p>
            <a:pPr marL="0" indent="0">
              <a:buNone/>
            </a:pPr>
            <a:r>
              <a:rPr lang="en-US" sz="2000" kern="0" spc="-35" dirty="0">
                <a:solidFill>
                  <a:srgbClr val="002060"/>
                </a:solidFill>
                <a:latin typeface="Goudy Old Style" panose="02020502050305020303" pitchFamily="18" charset="0"/>
                <a:ea typeface="Inter" pitchFamily="34" charset="-122"/>
                <a:cs typeface="Inter" pitchFamily="34" charset="-120"/>
              </a:rPr>
              <a:t>The second screen of the app features a welcoming interface prompting users to either sign up if they are new or log in if they are existing users. The screen is designed using XML layout in Android Studio, incorporating intuitive buttons.</a:t>
            </a:r>
            <a:endParaRPr lang="en-US" sz="2000" dirty="0">
              <a:solidFill>
                <a:srgbClr val="002060"/>
              </a:solidFill>
              <a:latin typeface="Goudy Old Style" panose="02020502050305020303" pitchFamily="18" charset="0"/>
            </a:endParaRPr>
          </a:p>
          <a:p>
            <a:pPr marL="0" indent="0">
              <a:lnSpc>
                <a:spcPts val="2799"/>
              </a:lnSpc>
              <a:buNone/>
            </a:pPr>
            <a:endParaRPr lang="en-US" sz="2000" dirty="0">
              <a:latin typeface="Goudy Old Style" panose="02020502050305020303"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rcRect/>
          <a:stretch/>
        </p:blipFill>
        <p:spPr>
          <a:xfrm>
            <a:off x="335281" y="341207"/>
            <a:ext cx="2834640" cy="6141720"/>
          </a:xfrm>
          <a:prstGeom prst="rect">
            <a:avLst/>
          </a:prstGeom>
        </p:spPr>
      </p:pic>
    </p:spTree>
    <p:extLst>
      <p:ext uri="{BB962C8B-B14F-4D97-AF65-F5344CB8AC3E}">
        <p14:creationId xmlns:p14="http://schemas.microsoft.com/office/powerpoint/2010/main" val="24343583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05402" y="1060587"/>
            <a:ext cx="5541312" cy="878280"/>
          </a:xfrm>
        </p:spPr>
        <p:txBody>
          <a:bodyPr>
            <a:normAutofit/>
          </a:bodyPr>
          <a:lstStyle/>
          <a:p>
            <a:pPr>
              <a:lnSpc>
                <a:spcPts val="5468"/>
              </a:lnSpc>
            </a:pPr>
            <a:r>
              <a:rPr lang="en-US" b="1" kern="0" spc="-79" dirty="0">
                <a:solidFill>
                  <a:schemeClr val="accent6"/>
                </a:solidFill>
                <a:latin typeface="Baskerville Old Face" panose="02020602080505020303" pitchFamily="18" charset="0"/>
                <a:ea typeface="Inter" pitchFamily="34" charset="-122"/>
              </a:rPr>
              <a:t>3</a:t>
            </a:r>
            <a:r>
              <a:rPr lang="en-US" kern="0" spc="-79" dirty="0">
                <a:solidFill>
                  <a:schemeClr val="accent6"/>
                </a:solidFill>
                <a:latin typeface="Baskerville Old Face" panose="02020602080505020303" pitchFamily="18" charset="0"/>
                <a:ea typeface="Inter" pitchFamily="34" charset="-122"/>
              </a:rPr>
              <a:t>.  </a:t>
            </a:r>
            <a:r>
              <a:rPr lang="en-US" b="1" kern="0" spc="-131" dirty="0">
                <a:solidFill>
                  <a:schemeClr val="accent6"/>
                </a:solidFill>
                <a:latin typeface="Goudy Old Style" panose="02020502050305020303" pitchFamily="18" charset="0"/>
                <a:ea typeface="Inter" pitchFamily="34" charset="-122"/>
                <a:cs typeface="Inter" pitchFamily="34" charset="-120"/>
              </a:rPr>
              <a:t>SIGNUP</a:t>
            </a:r>
            <a:r>
              <a:rPr lang="en-US" kern="0" spc="-131" dirty="0">
                <a:solidFill>
                  <a:schemeClr val="accent6"/>
                </a:solidFill>
                <a:latin typeface="Goudy Old Style" panose="02020502050305020303" pitchFamily="18" charset="0"/>
                <a:ea typeface="Inter" pitchFamily="34" charset="-122"/>
                <a:cs typeface="Inter" pitchFamily="34" charset="-120"/>
              </a:rPr>
              <a:t> </a:t>
            </a:r>
            <a:r>
              <a:rPr lang="en-US" b="1" kern="0" spc="-131" dirty="0">
                <a:solidFill>
                  <a:schemeClr val="accent6"/>
                </a:solidFill>
                <a:latin typeface="Goudy Old Style" panose="02020502050305020303" pitchFamily="18" charset="0"/>
                <a:ea typeface="Inter" pitchFamily="34" charset="-122"/>
                <a:cs typeface="Inter" pitchFamily="34" charset="-120"/>
              </a:rPr>
              <a:t>SCREEN</a:t>
            </a:r>
            <a:endParaRPr lang="en-US" b="1" dirty="0">
              <a:solidFill>
                <a:schemeClr val="accent6"/>
              </a:solidFill>
              <a:latin typeface="Goudy Old Style" panose="02020502050305020303" pitchFamily="18" charset="0"/>
            </a:endParaRPr>
          </a:p>
        </p:txBody>
      </p:sp>
      <p:sp>
        <p:nvSpPr>
          <p:cNvPr id="3" name="Content Placeholder 2"/>
          <p:cNvSpPr>
            <a:spLocks noGrp="1"/>
          </p:cNvSpPr>
          <p:nvPr>
            <p:ph idx="1"/>
          </p:nvPr>
        </p:nvSpPr>
        <p:spPr>
          <a:xfrm>
            <a:off x="3697705" y="2959767"/>
            <a:ext cx="7495229" cy="2060965"/>
          </a:xfrm>
          <a:ln>
            <a:noFill/>
          </a:ln>
        </p:spPr>
        <p:txBody>
          <a:bodyPr>
            <a:normAutofit/>
          </a:bodyPr>
          <a:lstStyle/>
          <a:p>
            <a:pPr marL="0" indent="0">
              <a:buNone/>
            </a:pPr>
            <a:r>
              <a:rPr lang="en-US" sz="2000" kern="0" spc="-28" dirty="0">
                <a:solidFill>
                  <a:srgbClr val="002060"/>
                </a:solidFill>
                <a:latin typeface="Goudy Old Style" panose="02020502050305020303" pitchFamily="18" charset="0"/>
                <a:ea typeface="Inter" pitchFamily="34" charset="-122"/>
                <a:cs typeface="Inter" pitchFamily="34" charset="-120"/>
              </a:rPr>
              <a:t>The screen is designed using XML layout in Android Studio, incorporating intuitive buttons and input fields for username, email and password. validation are included to ensure accurate user input.</a:t>
            </a:r>
            <a:endParaRPr lang="en-US" sz="2000" dirty="0">
              <a:solidFill>
                <a:srgbClr val="002060"/>
              </a:solidFill>
              <a:latin typeface="Goudy Old Style" panose="02020502050305020303" pitchFamily="18" charset="0"/>
            </a:endParaRPr>
          </a:p>
          <a:p>
            <a:pPr marL="0" indent="0">
              <a:lnSpc>
                <a:spcPts val="2799"/>
              </a:lnSpc>
              <a:buNone/>
            </a:pPr>
            <a:endParaRPr lang="en-US" sz="2000" dirty="0">
              <a:latin typeface="Goudy Old Style" panose="02020502050305020303"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rcRect/>
          <a:stretch/>
        </p:blipFill>
        <p:spPr>
          <a:xfrm>
            <a:off x="335281" y="341207"/>
            <a:ext cx="2834640" cy="6141720"/>
          </a:xfrm>
          <a:prstGeom prst="rect">
            <a:avLst/>
          </a:prstGeom>
        </p:spPr>
      </p:pic>
    </p:spTree>
    <p:extLst>
      <p:ext uri="{BB962C8B-B14F-4D97-AF65-F5344CB8AC3E}">
        <p14:creationId xmlns:p14="http://schemas.microsoft.com/office/powerpoint/2010/main" val="2309118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05402" y="1060587"/>
            <a:ext cx="5541312" cy="878280"/>
          </a:xfrm>
        </p:spPr>
        <p:txBody>
          <a:bodyPr>
            <a:normAutofit/>
          </a:bodyPr>
          <a:lstStyle/>
          <a:p>
            <a:pPr>
              <a:lnSpc>
                <a:spcPts val="5468"/>
              </a:lnSpc>
            </a:pPr>
            <a:r>
              <a:rPr lang="en-US" b="1" kern="0" spc="-79" dirty="0">
                <a:solidFill>
                  <a:schemeClr val="accent6"/>
                </a:solidFill>
                <a:latin typeface="Baskerville Old Face" panose="02020602080505020303" pitchFamily="18" charset="0"/>
                <a:ea typeface="Inter" pitchFamily="34" charset="-122"/>
              </a:rPr>
              <a:t>4</a:t>
            </a:r>
            <a:r>
              <a:rPr lang="en-US" kern="0" spc="-79" dirty="0">
                <a:solidFill>
                  <a:schemeClr val="accent6"/>
                </a:solidFill>
                <a:latin typeface="Baskerville Old Face" panose="02020602080505020303" pitchFamily="18" charset="0"/>
                <a:ea typeface="Inter" pitchFamily="34" charset="-122"/>
              </a:rPr>
              <a:t>.  </a:t>
            </a:r>
            <a:r>
              <a:rPr lang="en-US" b="1" kern="0" spc="-131" dirty="0">
                <a:solidFill>
                  <a:schemeClr val="accent6"/>
                </a:solidFill>
                <a:latin typeface="Goudy Old Style" panose="02020502050305020303" pitchFamily="18" charset="0"/>
                <a:ea typeface="Inter" pitchFamily="34" charset="-122"/>
                <a:cs typeface="Inter" pitchFamily="34" charset="-120"/>
              </a:rPr>
              <a:t>LOGIN</a:t>
            </a:r>
            <a:r>
              <a:rPr lang="en-US" kern="0" spc="-131" dirty="0">
                <a:solidFill>
                  <a:schemeClr val="accent6"/>
                </a:solidFill>
                <a:latin typeface="Goudy Old Style" panose="02020502050305020303" pitchFamily="18" charset="0"/>
                <a:ea typeface="Inter" pitchFamily="34" charset="-122"/>
                <a:cs typeface="Inter" pitchFamily="34" charset="-120"/>
              </a:rPr>
              <a:t> </a:t>
            </a:r>
            <a:r>
              <a:rPr lang="en-US" b="1" kern="0" spc="-131" dirty="0">
                <a:solidFill>
                  <a:schemeClr val="accent6"/>
                </a:solidFill>
                <a:latin typeface="Goudy Old Style" panose="02020502050305020303" pitchFamily="18" charset="0"/>
                <a:ea typeface="Inter" pitchFamily="34" charset="-122"/>
                <a:cs typeface="Inter" pitchFamily="34" charset="-120"/>
              </a:rPr>
              <a:t>SCREEN</a:t>
            </a:r>
            <a:endParaRPr lang="en-US" b="1" dirty="0">
              <a:solidFill>
                <a:schemeClr val="accent6"/>
              </a:solidFill>
              <a:latin typeface="Goudy Old Style" panose="02020502050305020303" pitchFamily="18" charset="0"/>
            </a:endParaRPr>
          </a:p>
        </p:txBody>
      </p:sp>
      <p:sp>
        <p:nvSpPr>
          <p:cNvPr id="3" name="Content Placeholder 2"/>
          <p:cNvSpPr>
            <a:spLocks noGrp="1"/>
          </p:cNvSpPr>
          <p:nvPr>
            <p:ph idx="1"/>
          </p:nvPr>
        </p:nvSpPr>
        <p:spPr>
          <a:xfrm>
            <a:off x="3489158" y="2895599"/>
            <a:ext cx="7703776" cy="2125133"/>
          </a:xfrm>
          <a:ln>
            <a:noFill/>
          </a:ln>
        </p:spPr>
        <p:txBody>
          <a:bodyPr>
            <a:normAutofit/>
          </a:bodyPr>
          <a:lstStyle/>
          <a:p>
            <a:pPr marL="0" indent="0">
              <a:lnSpc>
                <a:spcPct val="150000"/>
              </a:lnSpc>
              <a:buNone/>
            </a:pPr>
            <a:r>
              <a:rPr lang="en-US" sz="2000" kern="0" spc="-28" dirty="0">
                <a:solidFill>
                  <a:srgbClr val="002060"/>
                </a:solidFill>
                <a:latin typeface="Goudy Old Style" panose="02020502050305020303" pitchFamily="18" charset="0"/>
                <a:ea typeface="Inter" pitchFamily="34" charset="-122"/>
                <a:cs typeface="Inter" pitchFamily="34" charset="-120"/>
              </a:rPr>
              <a:t>The screen is designed using XML layout in Android Studio, incorporating intuitive buttons and input fields for email and password. The signup/login functionality is implemented using Firebase Authentication</a:t>
            </a:r>
            <a:endParaRPr lang="en-US" sz="2000" dirty="0">
              <a:solidFill>
                <a:srgbClr val="002060"/>
              </a:solidFill>
              <a:latin typeface="Goudy Old Style" panose="02020502050305020303" pitchFamily="18" charset="0"/>
            </a:endParaRPr>
          </a:p>
          <a:p>
            <a:pPr marL="0" indent="0">
              <a:lnSpc>
                <a:spcPts val="2799"/>
              </a:lnSpc>
              <a:buNone/>
            </a:pPr>
            <a:endParaRPr lang="en-US" sz="2000" dirty="0">
              <a:solidFill>
                <a:srgbClr val="002060"/>
              </a:solidFill>
              <a:latin typeface="Goudy Old Style" panose="02020502050305020303"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rcRect/>
          <a:stretch/>
        </p:blipFill>
        <p:spPr>
          <a:xfrm>
            <a:off x="335281" y="341207"/>
            <a:ext cx="2834640" cy="6141720"/>
          </a:xfrm>
          <a:prstGeom prst="rect">
            <a:avLst/>
          </a:prstGeom>
        </p:spPr>
      </p:pic>
    </p:spTree>
    <p:extLst>
      <p:ext uri="{BB962C8B-B14F-4D97-AF65-F5344CB8AC3E}">
        <p14:creationId xmlns:p14="http://schemas.microsoft.com/office/powerpoint/2010/main" val="3688099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15012" y="518720"/>
            <a:ext cx="5541312" cy="878280"/>
          </a:xfrm>
        </p:spPr>
        <p:txBody>
          <a:bodyPr>
            <a:normAutofit/>
          </a:bodyPr>
          <a:lstStyle/>
          <a:p>
            <a:pPr>
              <a:lnSpc>
                <a:spcPts val="5468"/>
              </a:lnSpc>
            </a:pPr>
            <a:r>
              <a:rPr lang="en-US" b="1" kern="0" spc="-79" dirty="0">
                <a:solidFill>
                  <a:schemeClr val="accent6"/>
                </a:solidFill>
                <a:latin typeface="Baskerville Old Face" panose="02020602080505020303" pitchFamily="18" charset="0"/>
                <a:ea typeface="Inter" pitchFamily="34" charset="-122"/>
              </a:rPr>
              <a:t>5</a:t>
            </a:r>
            <a:r>
              <a:rPr lang="en-US" kern="0" spc="-79" dirty="0">
                <a:solidFill>
                  <a:schemeClr val="accent6"/>
                </a:solidFill>
                <a:latin typeface="Baskerville Old Face" panose="02020602080505020303" pitchFamily="18" charset="0"/>
                <a:ea typeface="Inter" pitchFamily="34" charset="-122"/>
              </a:rPr>
              <a:t>.  </a:t>
            </a:r>
            <a:r>
              <a:rPr lang="en-US" b="1" kern="0" spc="-131" dirty="0">
                <a:solidFill>
                  <a:schemeClr val="accent6"/>
                </a:solidFill>
                <a:latin typeface="Goudy Old Style" panose="02020502050305020303" pitchFamily="18" charset="0"/>
                <a:ea typeface="Inter" pitchFamily="34" charset="-122"/>
              </a:rPr>
              <a:t>HOME</a:t>
            </a:r>
            <a:r>
              <a:rPr lang="en-US" kern="0" spc="-131" dirty="0">
                <a:solidFill>
                  <a:schemeClr val="accent6"/>
                </a:solidFill>
                <a:latin typeface="Goudy Old Style" panose="02020502050305020303" pitchFamily="18" charset="0"/>
                <a:ea typeface="Inter" pitchFamily="34" charset="-122"/>
                <a:cs typeface="Inter" pitchFamily="34" charset="-120"/>
              </a:rPr>
              <a:t> </a:t>
            </a:r>
            <a:r>
              <a:rPr lang="en-US" b="1" kern="0" spc="-131" dirty="0">
                <a:solidFill>
                  <a:schemeClr val="accent6"/>
                </a:solidFill>
                <a:latin typeface="Goudy Old Style" panose="02020502050305020303" pitchFamily="18" charset="0"/>
                <a:ea typeface="Inter" pitchFamily="34" charset="-122"/>
                <a:cs typeface="Inter" pitchFamily="34" charset="-120"/>
              </a:rPr>
              <a:t>SCREEN</a:t>
            </a:r>
            <a:endParaRPr lang="en-US" b="1" dirty="0">
              <a:solidFill>
                <a:schemeClr val="accent6"/>
              </a:solidFill>
              <a:latin typeface="Goudy Old Style" panose="02020502050305020303" pitchFamily="18" charset="0"/>
            </a:endParaRPr>
          </a:p>
        </p:txBody>
      </p:sp>
      <p:sp>
        <p:nvSpPr>
          <p:cNvPr id="3" name="Content Placeholder 2"/>
          <p:cNvSpPr>
            <a:spLocks noGrp="1"/>
          </p:cNvSpPr>
          <p:nvPr>
            <p:ph idx="1"/>
          </p:nvPr>
        </p:nvSpPr>
        <p:spPr>
          <a:xfrm>
            <a:off x="3561347" y="2269957"/>
            <a:ext cx="7665454" cy="4190109"/>
          </a:xfrm>
          <a:ln>
            <a:noFill/>
          </a:ln>
        </p:spPr>
        <p:txBody>
          <a:bodyPr>
            <a:normAutofit fontScale="92500" lnSpcReduction="10000"/>
          </a:bodyPr>
          <a:lstStyle/>
          <a:p>
            <a:pPr marL="0" indent="0">
              <a:lnSpc>
                <a:spcPct val="150000"/>
              </a:lnSpc>
              <a:buNone/>
            </a:pPr>
            <a:r>
              <a:rPr lang="en-US" sz="1600" kern="0" spc="-24" dirty="0">
                <a:solidFill>
                  <a:srgbClr val="002060"/>
                </a:solidFill>
                <a:latin typeface="Goudy Old Style" panose="02020502050305020303" pitchFamily="18" charset="0"/>
                <a:ea typeface="Microsoft JhengHei Light" panose="020B0304030504040204" pitchFamily="34" charset="-120"/>
                <a:cs typeface="Inter" pitchFamily="34" charset="-120"/>
              </a:rPr>
              <a:t>The home screen of the app is designed with a user-friendly interface, featuring three main sections:</a:t>
            </a:r>
          </a:p>
          <a:p>
            <a:pPr>
              <a:lnSpc>
                <a:spcPct val="100000"/>
              </a:lnSpc>
              <a:buFont typeface="Wingdings" panose="05000000000000000000" pitchFamily="2" charset="2"/>
              <a:buChar char="Ø"/>
            </a:pPr>
            <a:r>
              <a:rPr lang="en-US" sz="2000" dirty="0">
                <a:solidFill>
                  <a:srgbClr val="002060"/>
                </a:solidFill>
                <a:latin typeface="Microsoft JhengHei Light" panose="020B0304030504040204" pitchFamily="34" charset="-120"/>
                <a:ea typeface="Microsoft JhengHei Light" panose="020B0304030504040204" pitchFamily="34" charset="-120"/>
              </a:rPr>
              <a:t> </a:t>
            </a:r>
            <a:r>
              <a:rPr lang="en-US" sz="1800" b="1" kern="0" spc="-55" dirty="0">
                <a:solidFill>
                  <a:srgbClr val="002060"/>
                </a:solidFill>
                <a:latin typeface="Goudy Old Style" panose="02020502050305020303" pitchFamily="18" charset="0"/>
                <a:ea typeface="Inter" pitchFamily="34" charset="-122"/>
                <a:cs typeface="Inter" pitchFamily="34" charset="-120"/>
              </a:rPr>
              <a:t>CATEGORY</a:t>
            </a:r>
            <a:r>
              <a:rPr lang="en-US" sz="2000" b="1" kern="0" spc="-55" dirty="0">
                <a:solidFill>
                  <a:srgbClr val="002060"/>
                </a:solidFill>
                <a:latin typeface="Goudy Old Style" panose="02020502050305020303" pitchFamily="18" charset="0"/>
                <a:ea typeface="Inter" pitchFamily="34" charset="-122"/>
                <a:cs typeface="Inter" pitchFamily="34" charset="-120"/>
              </a:rPr>
              <a:t>:</a:t>
            </a:r>
          </a:p>
          <a:p>
            <a:pPr marL="0" indent="0" algn="just">
              <a:lnSpc>
                <a:spcPct val="100000"/>
              </a:lnSpc>
              <a:buNone/>
            </a:pPr>
            <a:r>
              <a:rPr lang="en-US" sz="1600" kern="0" spc="-24" dirty="0">
                <a:solidFill>
                  <a:srgbClr val="002060"/>
                </a:solidFill>
                <a:latin typeface="Goudy Old Style" panose="02020502050305020303" pitchFamily="18" charset="0"/>
                <a:ea typeface="Microsoft JhengHei UI Light" panose="020B0304030504040204" pitchFamily="34" charset="-120"/>
                <a:cs typeface="Inter" pitchFamily="34" charset="-120"/>
              </a:rPr>
              <a:t>Each category is clickable, leading users to explore brands within their area of interest.</a:t>
            </a:r>
          </a:p>
          <a:p>
            <a:pPr>
              <a:lnSpc>
                <a:spcPts val="2799"/>
              </a:lnSpc>
              <a:buFont typeface="Wingdings" panose="05000000000000000000" pitchFamily="2" charset="2"/>
              <a:buChar char="Ø"/>
            </a:pPr>
            <a:r>
              <a:rPr lang="en-US" sz="1600" b="1" kern="0" spc="-55" dirty="0">
                <a:solidFill>
                  <a:srgbClr val="002060"/>
                </a:solidFill>
                <a:latin typeface="Goudy Old Style" panose="02020502050305020303" pitchFamily="18" charset="0"/>
                <a:ea typeface="Inter" pitchFamily="34" charset="-122"/>
                <a:cs typeface="Inter" pitchFamily="34" charset="-120"/>
              </a:rPr>
              <a:t> </a:t>
            </a:r>
            <a:r>
              <a:rPr lang="en-US" sz="1800" b="1" kern="0" spc="-55" dirty="0">
                <a:solidFill>
                  <a:srgbClr val="002060"/>
                </a:solidFill>
                <a:latin typeface="Goudy Old Style" panose="02020502050305020303" pitchFamily="18" charset="0"/>
                <a:ea typeface="Inter" pitchFamily="34" charset="-122"/>
                <a:cs typeface="Inter" pitchFamily="34" charset="-120"/>
              </a:rPr>
              <a:t>FEATURED:</a:t>
            </a:r>
          </a:p>
          <a:p>
            <a:pPr marL="0" indent="0" algn="just">
              <a:lnSpc>
                <a:spcPts val="2799"/>
              </a:lnSpc>
              <a:buNone/>
            </a:pPr>
            <a:r>
              <a:rPr lang="en-US" sz="1600" kern="0" spc="-24" dirty="0">
                <a:solidFill>
                  <a:srgbClr val="002060"/>
                </a:solidFill>
                <a:latin typeface="Goudy Old Style" panose="02020502050305020303" pitchFamily="18" charset="0"/>
                <a:ea typeface="Microsoft JhengHei UI Light" panose="020B0304030504040204" pitchFamily="34" charset="-120"/>
                <a:cs typeface="Inter" pitchFamily="34" charset="-120"/>
              </a:rPr>
              <a:t>These features are implemented using Recycler Views and custom adapters to display dynamic content efficiently</a:t>
            </a:r>
            <a:r>
              <a:rPr lang="en-US" sz="1600" kern="0" spc="-24" dirty="0">
                <a:solidFill>
                  <a:srgbClr val="002060"/>
                </a:solidFill>
                <a:latin typeface="Goudy Old Style" panose="02020502050305020303" pitchFamily="18" charset="0"/>
                <a:ea typeface="Inter" pitchFamily="34" charset="-122"/>
                <a:cs typeface="Inter" pitchFamily="34" charset="-120"/>
              </a:rPr>
              <a:t>.</a:t>
            </a:r>
          </a:p>
          <a:p>
            <a:pPr algn="just">
              <a:lnSpc>
                <a:spcPts val="2799"/>
              </a:lnSpc>
              <a:buFont typeface="Wingdings" panose="05000000000000000000" pitchFamily="2" charset="2"/>
              <a:buChar char="Ø"/>
            </a:pPr>
            <a:r>
              <a:rPr lang="en-US" sz="1800" b="1" kern="0" spc="-55" dirty="0">
                <a:solidFill>
                  <a:srgbClr val="002060"/>
                </a:solidFill>
                <a:latin typeface="Goudy Old Style" panose="02020502050305020303" pitchFamily="18" charset="0"/>
                <a:ea typeface="Inter" pitchFamily="34" charset="-122"/>
                <a:cs typeface="Inter" pitchFamily="34" charset="-120"/>
              </a:rPr>
              <a:t>BESTSELLER:</a:t>
            </a:r>
          </a:p>
          <a:p>
            <a:pPr marL="0" indent="0" algn="just">
              <a:lnSpc>
                <a:spcPts val="2799"/>
              </a:lnSpc>
              <a:buNone/>
            </a:pPr>
            <a:r>
              <a:rPr lang="en-US" sz="1600" kern="0" spc="-24" dirty="0">
                <a:solidFill>
                  <a:srgbClr val="002060"/>
                </a:solidFill>
                <a:latin typeface="Goudy Old Style" panose="02020502050305020303" pitchFamily="18" charset="0"/>
                <a:ea typeface="Microsoft JhengHei Light" panose="020B0304030504040204" pitchFamily="34" charset="-120"/>
                <a:cs typeface="Inter" pitchFamily="34" charset="-120"/>
              </a:rPr>
              <a:t>This section helps users discover trending items quickly. Product data is fetched from a backend database (such as Firebase </a:t>
            </a:r>
            <a:r>
              <a:rPr lang="en-US" sz="1600" kern="0" spc="-24" dirty="0" err="1">
                <a:solidFill>
                  <a:srgbClr val="002060"/>
                </a:solidFill>
                <a:latin typeface="Goudy Old Style" panose="02020502050305020303" pitchFamily="18" charset="0"/>
                <a:ea typeface="Microsoft JhengHei Light" panose="020B0304030504040204" pitchFamily="34" charset="-120"/>
                <a:cs typeface="Inter" pitchFamily="34" charset="-120"/>
              </a:rPr>
              <a:t>Realtime</a:t>
            </a:r>
            <a:r>
              <a:rPr lang="en-US" sz="1600" kern="0" spc="-24" dirty="0">
                <a:solidFill>
                  <a:srgbClr val="002060"/>
                </a:solidFill>
                <a:latin typeface="Goudy Old Style" panose="02020502050305020303" pitchFamily="18" charset="0"/>
                <a:ea typeface="Microsoft JhengHei Light" panose="020B0304030504040204" pitchFamily="34" charset="-120"/>
                <a:cs typeface="Inter" pitchFamily="34" charset="-120"/>
              </a:rPr>
              <a:t> Database or API calls) and displayed using appropriate layouts and designs</a:t>
            </a:r>
            <a:r>
              <a:rPr lang="en-US" sz="1600" i="1" kern="0" spc="-24" dirty="0">
                <a:solidFill>
                  <a:srgbClr val="002060"/>
                </a:solidFill>
                <a:latin typeface="Microsoft JhengHei Light" panose="020B0304030504040204" pitchFamily="34" charset="-120"/>
                <a:ea typeface="Microsoft JhengHei Light" panose="020B0304030504040204" pitchFamily="34" charset="-120"/>
                <a:cs typeface="Inter" pitchFamily="34" charset="-120"/>
              </a:rPr>
              <a:t>.</a:t>
            </a:r>
            <a:endParaRPr lang="en-US" sz="1600" i="1" dirty="0">
              <a:solidFill>
                <a:srgbClr val="002060"/>
              </a:solidFill>
              <a:latin typeface="Microsoft JhengHei Light" panose="020B0304030504040204" pitchFamily="34" charset="-120"/>
              <a:ea typeface="Microsoft JhengHei Light" panose="020B0304030504040204" pitchFamily="34" charset="-120"/>
            </a:endParaRPr>
          </a:p>
          <a:p>
            <a:pPr marL="0" indent="0" algn="just">
              <a:lnSpc>
                <a:spcPts val="2799"/>
              </a:lnSpc>
              <a:buNone/>
            </a:pPr>
            <a:endParaRPr lang="en-US" sz="1600" dirty="0">
              <a:latin typeface="Goudy Old Style" panose="02020502050305020303" pitchFamily="18" charset="0"/>
            </a:endParaRPr>
          </a:p>
          <a:p>
            <a:pPr algn="just">
              <a:lnSpc>
                <a:spcPts val="2799"/>
              </a:lnSpc>
              <a:buFont typeface="Wingdings" panose="05000000000000000000" pitchFamily="2" charset="2"/>
              <a:buChar char="Ø"/>
            </a:pPr>
            <a:endParaRPr lang="en-US" sz="1600" kern="0" spc="-24" dirty="0">
              <a:solidFill>
                <a:srgbClr val="272525"/>
              </a:solidFill>
              <a:latin typeface="Goudy Old Style" panose="02020502050305020303" pitchFamily="18" charset="0"/>
              <a:ea typeface="Inter" pitchFamily="34" charset="-122"/>
              <a:cs typeface="Inter" pitchFamily="34" charset="-120"/>
            </a:endParaRPr>
          </a:p>
          <a:p>
            <a:pPr marL="0" indent="0" algn="just">
              <a:lnSpc>
                <a:spcPts val="2799"/>
              </a:lnSpc>
              <a:buNone/>
            </a:pPr>
            <a:endParaRPr lang="en-US" sz="1600" kern="0" spc="-24" dirty="0">
              <a:solidFill>
                <a:srgbClr val="272525"/>
              </a:solidFill>
              <a:latin typeface="Goudy Old Style" panose="02020502050305020303" pitchFamily="18" charset="0"/>
              <a:ea typeface="Inter" pitchFamily="34" charset="-122"/>
              <a:cs typeface="Inter" pitchFamily="34" charset="-120"/>
            </a:endParaRPr>
          </a:p>
          <a:p>
            <a:pPr marL="0" indent="0" algn="just">
              <a:lnSpc>
                <a:spcPts val="2799"/>
              </a:lnSpc>
              <a:buNone/>
            </a:pPr>
            <a:endParaRPr lang="en-US" sz="1600" dirty="0">
              <a:latin typeface="Goudy Old Style" panose="02020502050305020303" pitchFamily="18" charset="0"/>
            </a:endParaRPr>
          </a:p>
          <a:p>
            <a:pPr marL="0" indent="0" algn="just">
              <a:lnSpc>
                <a:spcPts val="2799"/>
              </a:lnSpc>
              <a:buNone/>
            </a:pPr>
            <a:endParaRPr lang="en-US" sz="1800" dirty="0">
              <a:latin typeface="Goudy Old Style" panose="02020502050305020303" pitchFamily="18" charset="0"/>
            </a:endParaRPr>
          </a:p>
          <a:p>
            <a:pPr marL="0" indent="0">
              <a:lnSpc>
                <a:spcPts val="2799"/>
              </a:lnSpc>
              <a:buNone/>
            </a:pPr>
            <a:endParaRPr lang="en-US" sz="1800" dirty="0">
              <a:latin typeface="Goudy Old Style" panose="02020502050305020303" pitchFamily="18" charset="0"/>
            </a:endParaRPr>
          </a:p>
          <a:p>
            <a:pPr marL="0" indent="0">
              <a:lnSpc>
                <a:spcPts val="2799"/>
              </a:lnSpc>
              <a:buNone/>
            </a:pPr>
            <a:endParaRPr lang="en-US" sz="2000" dirty="0">
              <a:latin typeface="Goudy Old Style" panose="02020502050305020303"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rcRect/>
          <a:stretch/>
        </p:blipFill>
        <p:spPr>
          <a:xfrm>
            <a:off x="335281" y="341207"/>
            <a:ext cx="2834640" cy="6141720"/>
          </a:xfrm>
          <a:prstGeom prst="rect">
            <a:avLst/>
          </a:prstGeom>
        </p:spPr>
      </p:pic>
    </p:spTree>
    <p:extLst>
      <p:ext uri="{BB962C8B-B14F-4D97-AF65-F5344CB8AC3E}">
        <p14:creationId xmlns:p14="http://schemas.microsoft.com/office/powerpoint/2010/main" val="41724224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05402" y="1060587"/>
            <a:ext cx="5541312" cy="878280"/>
          </a:xfrm>
        </p:spPr>
        <p:txBody>
          <a:bodyPr>
            <a:normAutofit fontScale="90000"/>
          </a:bodyPr>
          <a:lstStyle/>
          <a:p>
            <a:pPr>
              <a:lnSpc>
                <a:spcPts val="5468"/>
              </a:lnSpc>
            </a:pPr>
            <a:r>
              <a:rPr lang="en-US" b="1" dirty="0">
                <a:solidFill>
                  <a:schemeClr val="accent6"/>
                </a:solidFill>
                <a:latin typeface="Goudy Old Style" panose="02020502050305020303" pitchFamily="18" charset="0"/>
              </a:rPr>
              <a:t>SEARCH IMPLEMENTATION</a:t>
            </a:r>
          </a:p>
        </p:txBody>
      </p:sp>
      <p:sp>
        <p:nvSpPr>
          <p:cNvPr id="3" name="Content Placeholder 2"/>
          <p:cNvSpPr>
            <a:spLocks noGrp="1"/>
          </p:cNvSpPr>
          <p:nvPr>
            <p:ph idx="1"/>
          </p:nvPr>
        </p:nvSpPr>
        <p:spPr>
          <a:xfrm>
            <a:off x="3513221" y="2606842"/>
            <a:ext cx="7679713" cy="2413891"/>
          </a:xfrm>
          <a:ln>
            <a:noFill/>
          </a:ln>
        </p:spPr>
        <p:txBody>
          <a:bodyPr>
            <a:normAutofit/>
          </a:bodyPr>
          <a:lstStyle/>
          <a:p>
            <a:pPr marL="0" indent="0">
              <a:lnSpc>
                <a:spcPts val="2799"/>
              </a:lnSpc>
              <a:buNone/>
            </a:pPr>
            <a:r>
              <a:rPr lang="en-US" sz="2000" b="1" dirty="0">
                <a:solidFill>
                  <a:srgbClr val="002060"/>
                </a:solidFill>
                <a:latin typeface="Goudy Old Style" panose="02020502050305020303" pitchFamily="18" charset="0"/>
                <a:ea typeface="Cambria Math" panose="02040503050406030204" pitchFamily="18" charset="0"/>
                <a:cs typeface="Crimson Text" pitchFamily="34" charset="-120"/>
              </a:rPr>
              <a:t>Search-Functionality</a:t>
            </a:r>
            <a:r>
              <a:rPr lang="en-US" sz="2000" dirty="0">
                <a:solidFill>
                  <a:srgbClr val="002060"/>
                </a:solidFill>
                <a:latin typeface="Goudy Old Style" panose="02020502050305020303" pitchFamily="18" charset="0"/>
                <a:ea typeface="Cambria Math" panose="02040503050406030204" pitchFamily="18" charset="0"/>
                <a:cs typeface="Crimson Text" pitchFamily="34" charset="-120"/>
              </a:rPr>
              <a:t>:  Implement search functionality using Edit Text listeners or Search View widget. As the user types, filter the product list based on the search query and update the Recycler View adapter accordingly.</a:t>
            </a:r>
            <a:endParaRPr lang="en-US" sz="2000" dirty="0">
              <a:solidFill>
                <a:srgbClr val="002060"/>
              </a:solidFill>
              <a:latin typeface="Goudy Old Style" panose="02020502050305020303" pitchFamily="18" charset="0"/>
              <a:ea typeface="Cambria Math" panose="02040503050406030204" pitchFamily="18" charset="0"/>
            </a:endParaRPr>
          </a:p>
          <a:p>
            <a:pPr marL="0" indent="0">
              <a:lnSpc>
                <a:spcPts val="2799"/>
              </a:lnSpc>
              <a:buNone/>
            </a:pPr>
            <a:endParaRPr lang="en-US" sz="2000" dirty="0">
              <a:latin typeface="Goudy Old Style" panose="02020502050305020303"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rcRect/>
          <a:stretch/>
        </p:blipFill>
        <p:spPr>
          <a:xfrm>
            <a:off x="335281" y="341207"/>
            <a:ext cx="2834640" cy="6141720"/>
          </a:xfrm>
          <a:prstGeom prst="rect">
            <a:avLst/>
          </a:prstGeom>
        </p:spPr>
      </p:pic>
    </p:spTree>
    <p:extLst>
      <p:ext uri="{BB962C8B-B14F-4D97-AF65-F5344CB8AC3E}">
        <p14:creationId xmlns:p14="http://schemas.microsoft.com/office/powerpoint/2010/main" val="3942039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61670" y="577986"/>
            <a:ext cx="5541312" cy="878280"/>
          </a:xfrm>
        </p:spPr>
        <p:txBody>
          <a:bodyPr>
            <a:normAutofit/>
          </a:bodyPr>
          <a:lstStyle/>
          <a:p>
            <a:pPr>
              <a:lnSpc>
                <a:spcPts val="5468"/>
              </a:lnSpc>
            </a:pPr>
            <a:r>
              <a:rPr lang="en-US" b="1" dirty="0">
                <a:solidFill>
                  <a:schemeClr val="accent6"/>
                </a:solidFill>
                <a:latin typeface="Goudy Old Style" panose="02020502050305020303" pitchFamily="18" charset="0"/>
              </a:rPr>
              <a:t>MENU</a:t>
            </a:r>
          </a:p>
        </p:txBody>
      </p:sp>
      <p:sp>
        <p:nvSpPr>
          <p:cNvPr id="3" name="Content Placeholder 2"/>
          <p:cNvSpPr>
            <a:spLocks noGrp="1"/>
          </p:cNvSpPr>
          <p:nvPr>
            <p:ph idx="1"/>
          </p:nvPr>
        </p:nvSpPr>
        <p:spPr>
          <a:xfrm>
            <a:off x="4235116" y="2422357"/>
            <a:ext cx="7093284" cy="4046175"/>
          </a:xfrm>
          <a:ln>
            <a:noFill/>
          </a:ln>
        </p:spPr>
        <p:txBody>
          <a:bodyPr>
            <a:normAutofit/>
          </a:bodyPr>
          <a:lstStyle/>
          <a:p>
            <a:pPr marL="0" indent="0">
              <a:lnSpc>
                <a:spcPts val="2335"/>
              </a:lnSpc>
              <a:buNone/>
            </a:pPr>
            <a:r>
              <a:rPr lang="en-US" sz="1600" dirty="0">
                <a:solidFill>
                  <a:srgbClr val="002060"/>
                </a:solidFill>
                <a:latin typeface="Baskerville Old Face" panose="02020602080505020303" pitchFamily="18" charset="0"/>
                <a:ea typeface="Cambria Math" panose="02040503050406030204" pitchFamily="18" charset="0"/>
                <a:cs typeface="Crimson Text" pitchFamily="34" charset="-120"/>
              </a:rPr>
              <a:t>We have two Menu options:</a:t>
            </a:r>
          </a:p>
          <a:p>
            <a:pPr marL="0" indent="0">
              <a:lnSpc>
                <a:spcPts val="2335"/>
              </a:lnSpc>
              <a:buNone/>
            </a:pPr>
            <a:r>
              <a:rPr lang="en-US" sz="1400" dirty="0">
                <a:solidFill>
                  <a:srgbClr val="002060"/>
                </a:solidFill>
                <a:latin typeface="Goudy Old Style" panose="02020502050305020303" pitchFamily="18" charset="0"/>
                <a:ea typeface="Cambria Math" panose="02040503050406030204" pitchFamily="18" charset="0"/>
              </a:rPr>
              <a:t>1) Cart</a:t>
            </a:r>
          </a:p>
          <a:p>
            <a:pPr marL="0" indent="0">
              <a:lnSpc>
                <a:spcPts val="2335"/>
              </a:lnSpc>
              <a:buNone/>
            </a:pPr>
            <a:r>
              <a:rPr lang="en-US" sz="1400" dirty="0">
                <a:solidFill>
                  <a:srgbClr val="002060"/>
                </a:solidFill>
                <a:latin typeface="Goudy Old Style" panose="02020502050305020303" pitchFamily="18" charset="0"/>
                <a:ea typeface="Cambria Math" panose="02040503050406030204" pitchFamily="18" charset="0"/>
              </a:rPr>
              <a:t>2) Log Out</a:t>
            </a:r>
          </a:p>
          <a:p>
            <a:pPr marL="0" indent="0">
              <a:lnSpc>
                <a:spcPts val="2799"/>
              </a:lnSpc>
              <a:buNone/>
            </a:pPr>
            <a:r>
              <a:rPr lang="en-US" sz="1400" b="1" dirty="0">
                <a:solidFill>
                  <a:srgbClr val="002060"/>
                </a:solidFill>
                <a:latin typeface="Baskerville Old Face" panose="02020602080505020303" pitchFamily="18" charset="0"/>
                <a:ea typeface="Crimson Text" pitchFamily="34" charset="-122"/>
                <a:cs typeface="Crimson Text" pitchFamily="34" charset="-120"/>
              </a:rPr>
              <a:t> 1. CART IMPLEMENTATION:</a:t>
            </a:r>
          </a:p>
          <a:p>
            <a:pPr marL="0" indent="0">
              <a:lnSpc>
                <a:spcPct val="100000"/>
              </a:lnSpc>
              <a:buNone/>
            </a:pPr>
            <a:r>
              <a:rPr lang="en-US" sz="1400" dirty="0">
                <a:solidFill>
                  <a:srgbClr val="002060"/>
                </a:solidFill>
                <a:latin typeface="Goudy Old Style" panose="02020502050305020303" pitchFamily="18" charset="0"/>
                <a:ea typeface="Cambria Math" panose="02040503050406030204" pitchFamily="18" charset="0"/>
                <a:cs typeface="Crimson Text" pitchFamily="34" charset="-120"/>
              </a:rPr>
              <a:t>Data Model: Define a data model for products including attributes like name, price, quantity, etc. Implement a data structure to manage the cart items.</a:t>
            </a:r>
          </a:p>
          <a:p>
            <a:pPr marL="0" indent="0">
              <a:lnSpc>
                <a:spcPct val="100000"/>
              </a:lnSpc>
              <a:buNone/>
            </a:pPr>
            <a:r>
              <a:rPr lang="en-US" sz="1400" dirty="0">
                <a:solidFill>
                  <a:srgbClr val="002060"/>
                </a:solidFill>
                <a:latin typeface="Goudy Old Style" panose="02020502050305020303" pitchFamily="18" charset="0"/>
                <a:ea typeface="Cambria Math" panose="02040503050406030204" pitchFamily="18" charset="0"/>
                <a:cs typeface="Crimson Text" pitchFamily="34" charset="-120"/>
              </a:rPr>
              <a:t>Add to Cart: Implement functionality to add products to the cart. This could be triggered by a button click on the product item in the Recycler View.</a:t>
            </a:r>
          </a:p>
          <a:p>
            <a:pPr marL="0" indent="0">
              <a:lnSpc>
                <a:spcPct val="100000"/>
              </a:lnSpc>
              <a:buNone/>
            </a:pPr>
            <a:r>
              <a:rPr lang="en-US" sz="1400" b="1" dirty="0">
                <a:solidFill>
                  <a:srgbClr val="002060"/>
                </a:solidFill>
                <a:latin typeface="Baskerville Old Face" panose="02020602080505020303" pitchFamily="18" charset="0"/>
                <a:ea typeface="Crimson Text" pitchFamily="34" charset="-122"/>
                <a:cs typeface="Crimson Text" pitchFamily="34" charset="-120"/>
              </a:rPr>
              <a:t> 2. LOG OUT:</a:t>
            </a:r>
          </a:p>
          <a:p>
            <a:pPr marL="0" indent="0">
              <a:lnSpc>
                <a:spcPts val="2799"/>
              </a:lnSpc>
              <a:buNone/>
            </a:pPr>
            <a:r>
              <a:rPr lang="en-US" sz="1400" dirty="0">
                <a:solidFill>
                  <a:srgbClr val="002060"/>
                </a:solidFill>
                <a:latin typeface="Goudy Old Style" panose="02020502050305020303" pitchFamily="18" charset="0"/>
                <a:ea typeface="Cambria Math" panose="02040503050406030204" pitchFamily="18" charset="0"/>
                <a:cs typeface="Crimson Text" pitchFamily="34" charset="-120"/>
              </a:rPr>
              <a:t>The logout button is used for securely ending your current session, thereby ensuring the privacy and security of your account</a:t>
            </a:r>
            <a:r>
              <a:rPr lang="en-US" sz="1400" dirty="0">
                <a:solidFill>
                  <a:srgbClr val="002060"/>
                </a:solidFill>
                <a:latin typeface="Goudy Old Style" panose="02020502050305020303" pitchFamily="18" charset="0"/>
                <a:ea typeface="Crimson Text" pitchFamily="34" charset="-122"/>
                <a:cs typeface="Crimson Text" pitchFamily="34" charset="-120"/>
              </a:rPr>
              <a:t>.</a:t>
            </a:r>
            <a:endParaRPr lang="en-US" sz="1400" dirty="0">
              <a:solidFill>
                <a:srgbClr val="002060"/>
              </a:solidFill>
              <a:latin typeface="Goudy Old Style" panose="02020502050305020303" pitchFamily="18" charset="0"/>
            </a:endParaRPr>
          </a:p>
          <a:p>
            <a:pPr marL="0" indent="0">
              <a:lnSpc>
                <a:spcPts val="2799"/>
              </a:lnSpc>
              <a:buNone/>
            </a:pPr>
            <a:endParaRPr lang="en-US" sz="1400" b="1" dirty="0">
              <a:solidFill>
                <a:schemeClr val="bg2">
                  <a:lumMod val="10000"/>
                </a:schemeClr>
              </a:solidFill>
              <a:latin typeface="Goudy Old Style" panose="02020502050305020303" pitchFamily="18" charset="0"/>
              <a:ea typeface="Crimson Text" pitchFamily="34" charset="-122"/>
              <a:cs typeface="Crimson Text" pitchFamily="34" charset="-120"/>
            </a:endParaRPr>
          </a:p>
          <a:p>
            <a:pPr marL="0" indent="0">
              <a:lnSpc>
                <a:spcPts val="2799"/>
              </a:lnSpc>
              <a:buNone/>
            </a:pPr>
            <a:endParaRPr lang="en-US" sz="1400" b="1" dirty="0">
              <a:solidFill>
                <a:schemeClr val="bg2">
                  <a:lumMod val="10000"/>
                </a:schemeClr>
              </a:solidFill>
              <a:latin typeface="Baskerville Old Face" panose="02020602080505020303" pitchFamily="18" charset="0"/>
              <a:ea typeface="Crimson Text" pitchFamily="34" charset="-122"/>
              <a:cs typeface="Crimson Text" pitchFamily="34" charset="-120"/>
            </a:endParaRPr>
          </a:p>
          <a:p>
            <a:pPr marL="0" indent="0">
              <a:lnSpc>
                <a:spcPts val="2799"/>
              </a:lnSpc>
              <a:buNone/>
            </a:pPr>
            <a:endParaRPr lang="en-US" sz="1400" dirty="0">
              <a:solidFill>
                <a:schemeClr val="bg2">
                  <a:lumMod val="10000"/>
                </a:schemeClr>
              </a:solidFill>
              <a:latin typeface="Cambria Math" panose="02040503050406030204" pitchFamily="18" charset="0"/>
              <a:ea typeface="Cambria Math" panose="02040503050406030204" pitchFamily="18" charset="0"/>
            </a:endParaRPr>
          </a:p>
          <a:p>
            <a:pPr marL="0" indent="0">
              <a:lnSpc>
                <a:spcPts val="2799"/>
              </a:lnSpc>
              <a:buNone/>
            </a:pPr>
            <a:endParaRPr lang="en-US" sz="1400" b="1" dirty="0">
              <a:solidFill>
                <a:schemeClr val="bg2">
                  <a:lumMod val="10000"/>
                </a:schemeClr>
              </a:solidFill>
              <a:latin typeface="Baskerville Old Face" panose="02020602080505020303" pitchFamily="18" charset="0"/>
              <a:ea typeface="Crimson Text" pitchFamily="34" charset="-122"/>
              <a:cs typeface="Crimson Text" pitchFamily="34" charset="-120"/>
            </a:endParaRPr>
          </a:p>
          <a:p>
            <a:pPr marL="0" indent="0">
              <a:lnSpc>
                <a:spcPts val="2799"/>
              </a:lnSpc>
              <a:buNone/>
            </a:pPr>
            <a:endParaRPr lang="en-US" sz="1600" dirty="0">
              <a:solidFill>
                <a:schemeClr val="bg2">
                  <a:lumMod val="10000"/>
                </a:schemeClr>
              </a:solidFill>
              <a:latin typeface="Baskerville Old Face" panose="02020602080505020303" pitchFamily="18" charset="0"/>
            </a:endParaRPr>
          </a:p>
          <a:p>
            <a:pPr marL="0" indent="0">
              <a:lnSpc>
                <a:spcPts val="2799"/>
              </a:lnSpc>
              <a:buNone/>
            </a:pPr>
            <a:endParaRPr lang="en-US" sz="2000" dirty="0">
              <a:latin typeface="Goudy Old Style" panose="02020502050305020303"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rcRect/>
          <a:stretch/>
        </p:blipFill>
        <p:spPr>
          <a:xfrm>
            <a:off x="335281" y="357249"/>
            <a:ext cx="2834640" cy="6141720"/>
          </a:xfrm>
          <a:prstGeom prst="rect">
            <a:avLst/>
          </a:prstGeom>
        </p:spPr>
      </p:pic>
    </p:spTree>
    <p:extLst>
      <p:ext uri="{BB962C8B-B14F-4D97-AF65-F5344CB8AC3E}">
        <p14:creationId xmlns:p14="http://schemas.microsoft.com/office/powerpoint/2010/main" val="15333515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61284" y="794083"/>
            <a:ext cx="5670884" cy="617622"/>
          </a:xfrm>
        </p:spPr>
        <p:txBody>
          <a:bodyPr>
            <a:normAutofit/>
          </a:bodyPr>
          <a:lstStyle/>
          <a:p>
            <a:pPr>
              <a:lnSpc>
                <a:spcPts val="3827"/>
              </a:lnSpc>
            </a:pPr>
            <a:r>
              <a:rPr lang="en-US" b="1" kern="0" spc="-92" dirty="0">
                <a:solidFill>
                  <a:schemeClr val="accent6"/>
                </a:solidFill>
                <a:latin typeface="Goudy Old Style" panose="02020502050305020303" pitchFamily="18" charset="0"/>
                <a:ea typeface="Inter" pitchFamily="34" charset="-122"/>
                <a:cs typeface="Inter" pitchFamily="34" charset="-120"/>
              </a:rPr>
              <a:t>6.PRODUCT DETAILS</a:t>
            </a:r>
            <a:endParaRPr lang="en-US" dirty="0">
              <a:solidFill>
                <a:schemeClr val="accent6"/>
              </a:solidFill>
              <a:latin typeface="Goudy Old Style" panose="02020502050305020303" pitchFamily="18" charset="0"/>
            </a:endParaRPr>
          </a:p>
        </p:txBody>
      </p:sp>
      <p:sp>
        <p:nvSpPr>
          <p:cNvPr id="3" name="Content Placeholder 2"/>
          <p:cNvSpPr>
            <a:spLocks noGrp="1"/>
          </p:cNvSpPr>
          <p:nvPr>
            <p:ph idx="1"/>
          </p:nvPr>
        </p:nvSpPr>
        <p:spPr>
          <a:xfrm>
            <a:off x="4203032" y="2414337"/>
            <a:ext cx="7125368" cy="4054196"/>
          </a:xfrm>
          <a:ln>
            <a:noFill/>
          </a:ln>
        </p:spPr>
        <p:txBody>
          <a:bodyPr>
            <a:normAutofit/>
          </a:bodyPr>
          <a:lstStyle/>
          <a:p>
            <a:pPr marL="0" indent="0" algn="just">
              <a:lnSpc>
                <a:spcPts val="2082"/>
              </a:lnSpc>
              <a:buSzPct val="100000"/>
              <a:buNone/>
            </a:pPr>
            <a:r>
              <a:rPr lang="en-US" sz="1600" dirty="0">
                <a:solidFill>
                  <a:schemeClr val="tx1">
                    <a:lumMod val="85000"/>
                    <a:lumOff val="15000"/>
                  </a:schemeClr>
                </a:solidFill>
                <a:latin typeface="Cambria Math" panose="02040503050406030204" pitchFamily="18" charset="0"/>
                <a:ea typeface="Cambria Math" panose="02040503050406030204" pitchFamily="18" charset="0"/>
                <a:cs typeface="Crimson Text" pitchFamily="34" charset="-120"/>
              </a:rPr>
              <a:t> </a:t>
            </a:r>
            <a:r>
              <a:rPr lang="en-US" sz="1800" b="1" kern="0" spc="-26" dirty="0">
                <a:solidFill>
                  <a:srgbClr val="002060"/>
                </a:solidFill>
                <a:latin typeface="Goudy Old Style" panose="02020502050305020303" pitchFamily="18" charset="0"/>
                <a:ea typeface="Inter" pitchFamily="34" charset="-122"/>
                <a:cs typeface="Inter" pitchFamily="34" charset="-120"/>
              </a:rPr>
              <a:t>Layout Design</a:t>
            </a:r>
            <a:r>
              <a:rPr lang="en-US" sz="1600" b="1" kern="0" spc="-26" dirty="0">
                <a:solidFill>
                  <a:srgbClr val="002060"/>
                </a:solidFill>
                <a:latin typeface="Goudy Old Style" panose="02020502050305020303" pitchFamily="18" charset="0"/>
                <a:ea typeface="Inter" pitchFamily="34" charset="-122"/>
                <a:cs typeface="Inter" pitchFamily="34" charset="-120"/>
              </a:rPr>
              <a:t>:</a:t>
            </a:r>
            <a:r>
              <a:rPr lang="en-US" sz="1600" kern="0" spc="-26" dirty="0">
                <a:solidFill>
                  <a:srgbClr val="002060"/>
                </a:solidFill>
                <a:latin typeface="Goudy Old Style" panose="02020502050305020303" pitchFamily="18" charset="0"/>
                <a:ea typeface="Inter" pitchFamily="34" charset="-122"/>
                <a:cs typeface="Inter" pitchFamily="34" charset="-120"/>
              </a:rPr>
              <a:t>  </a:t>
            </a:r>
            <a:r>
              <a:rPr lang="en-US" sz="1600" kern="0" spc="-26" dirty="0">
                <a:solidFill>
                  <a:srgbClr val="002060"/>
                </a:solidFill>
                <a:latin typeface="Goudy Old Style" panose="02020502050305020303" pitchFamily="18" charset="0"/>
                <a:ea typeface="Cambria Math" panose="02040503050406030204" pitchFamily="18" charset="0"/>
                <a:cs typeface="Inter" pitchFamily="34" charset="-120"/>
              </a:rPr>
              <a:t>the cart activity layout  is designed using XML, including Image View for product image, Text Views for product details (rating, quantity, description), and a button for adding to cart</a:t>
            </a:r>
            <a:r>
              <a:rPr lang="en-US" sz="1600" kern="0" spc="-26" dirty="0">
                <a:solidFill>
                  <a:srgbClr val="002060"/>
                </a:solidFill>
                <a:latin typeface="Cambria Math" panose="02040503050406030204" pitchFamily="18" charset="0"/>
                <a:ea typeface="Cambria Math" panose="02040503050406030204" pitchFamily="18" charset="0"/>
                <a:cs typeface="Inter" pitchFamily="34" charset="-120"/>
              </a:rPr>
              <a:t>.</a:t>
            </a:r>
            <a:endParaRPr lang="en-US" sz="1600" dirty="0">
              <a:solidFill>
                <a:srgbClr val="002060"/>
              </a:solidFill>
              <a:latin typeface="Cambria Math" panose="02040503050406030204" pitchFamily="18" charset="0"/>
              <a:ea typeface="Cambria Math" panose="02040503050406030204" pitchFamily="18" charset="0"/>
            </a:endParaRPr>
          </a:p>
          <a:p>
            <a:pPr marL="0" indent="0" algn="just">
              <a:lnSpc>
                <a:spcPts val="2082"/>
              </a:lnSpc>
              <a:buSzPct val="100000"/>
              <a:buNone/>
            </a:pPr>
            <a:r>
              <a:rPr lang="en-US" sz="1800" b="1" kern="0" spc="-26" dirty="0">
                <a:solidFill>
                  <a:srgbClr val="002060"/>
                </a:solidFill>
                <a:latin typeface="Goudy Old Style" panose="02020502050305020303" pitchFamily="18" charset="0"/>
                <a:ea typeface="Inter" pitchFamily="34" charset="-122"/>
                <a:cs typeface="Inter" pitchFamily="34" charset="-120"/>
              </a:rPr>
              <a:t>Data Passing</a:t>
            </a:r>
            <a:r>
              <a:rPr lang="en-US" sz="1400" b="1" kern="0" spc="-26" dirty="0">
                <a:solidFill>
                  <a:srgbClr val="002060"/>
                </a:solidFill>
                <a:latin typeface="Inter" pitchFamily="34" charset="0"/>
                <a:ea typeface="Inter" pitchFamily="34" charset="-122"/>
                <a:cs typeface="Inter" pitchFamily="34" charset="-120"/>
              </a:rPr>
              <a:t>:</a:t>
            </a:r>
            <a:r>
              <a:rPr lang="en-US" sz="1400" kern="0" spc="-26" dirty="0">
                <a:solidFill>
                  <a:srgbClr val="002060"/>
                </a:solidFill>
                <a:latin typeface="Inter" pitchFamily="34" charset="0"/>
                <a:ea typeface="Inter" pitchFamily="34" charset="-122"/>
                <a:cs typeface="Inter" pitchFamily="34" charset="-120"/>
              </a:rPr>
              <a:t> </a:t>
            </a:r>
            <a:r>
              <a:rPr lang="en-US" sz="1600" kern="0" spc="-26" dirty="0">
                <a:solidFill>
                  <a:srgbClr val="002060"/>
                </a:solidFill>
                <a:latin typeface="Goudy Old Style" panose="02020502050305020303" pitchFamily="18" charset="0"/>
                <a:ea typeface="Cambria Math" panose="02040503050406030204" pitchFamily="18" charset="0"/>
                <a:cs typeface="Inter" pitchFamily="34" charset="-120"/>
              </a:rPr>
              <a:t>Pass product data (image URL, rating, quantity, description) from the previous activity (e.g., home screen) to the cart activity using Intent extras or a shared View Model.</a:t>
            </a:r>
          </a:p>
          <a:p>
            <a:pPr marL="0" indent="0" algn="just">
              <a:lnSpc>
                <a:spcPts val="2082"/>
              </a:lnSpc>
              <a:buSzPct val="100000"/>
              <a:buNone/>
            </a:pPr>
            <a:r>
              <a:rPr lang="en-US" sz="1600" b="1" kern="0" spc="-26" dirty="0">
                <a:solidFill>
                  <a:srgbClr val="002060"/>
                </a:solidFill>
                <a:latin typeface="Goudy Old Style" panose="02020502050305020303" pitchFamily="18" charset="0"/>
                <a:ea typeface="Inter" pitchFamily="34" charset="-122"/>
                <a:cs typeface="Inter" pitchFamily="34" charset="-120"/>
              </a:rPr>
              <a:t>Add to Cart Button</a:t>
            </a:r>
            <a:r>
              <a:rPr lang="en-US" sz="1400" b="1" kern="0" spc="-26" dirty="0">
                <a:solidFill>
                  <a:srgbClr val="002060"/>
                </a:solidFill>
                <a:latin typeface="Inter" pitchFamily="34" charset="0"/>
                <a:ea typeface="Inter" pitchFamily="34" charset="-122"/>
                <a:cs typeface="Inter" pitchFamily="34" charset="-120"/>
              </a:rPr>
              <a:t>:</a:t>
            </a:r>
            <a:r>
              <a:rPr lang="en-US" sz="1400" kern="0" spc="-26" dirty="0">
                <a:solidFill>
                  <a:srgbClr val="002060"/>
                </a:solidFill>
                <a:latin typeface="Inter" pitchFamily="34" charset="0"/>
                <a:ea typeface="Inter" pitchFamily="34" charset="-122"/>
                <a:cs typeface="Inter" pitchFamily="34" charset="-120"/>
              </a:rPr>
              <a:t> </a:t>
            </a:r>
            <a:r>
              <a:rPr lang="en-US" sz="1600" kern="0" spc="-26" dirty="0">
                <a:solidFill>
                  <a:srgbClr val="002060"/>
                </a:solidFill>
                <a:latin typeface="Goudy Old Style" panose="02020502050305020303" pitchFamily="18" charset="0"/>
                <a:ea typeface="Cambria Math" panose="02040503050406030204" pitchFamily="18" charset="0"/>
                <a:cs typeface="Inter" pitchFamily="34" charset="-120"/>
              </a:rPr>
              <a:t>Implement </a:t>
            </a:r>
            <a:r>
              <a:rPr lang="en-US" sz="1600" kern="0" spc="-26" dirty="0" err="1">
                <a:solidFill>
                  <a:srgbClr val="002060"/>
                </a:solidFill>
                <a:latin typeface="Goudy Old Style" panose="02020502050305020303" pitchFamily="18" charset="0"/>
                <a:ea typeface="Cambria Math" panose="02040503050406030204" pitchFamily="18" charset="0"/>
                <a:cs typeface="Inter" pitchFamily="34" charset="-120"/>
              </a:rPr>
              <a:t>onClickListener</a:t>
            </a:r>
            <a:r>
              <a:rPr lang="en-US" sz="1600" kern="0" spc="-26" dirty="0">
                <a:solidFill>
                  <a:srgbClr val="002060"/>
                </a:solidFill>
                <a:latin typeface="Goudy Old Style" panose="02020502050305020303" pitchFamily="18" charset="0"/>
                <a:ea typeface="Cambria Math" panose="02040503050406030204" pitchFamily="18" charset="0"/>
                <a:cs typeface="Inter" pitchFamily="34" charset="-120"/>
              </a:rPr>
              <a:t> for the "Add to Cart" button. On click, add the product to the cart data structure (e.g., </a:t>
            </a:r>
            <a:r>
              <a:rPr lang="en-US" sz="1600" kern="0" spc="-26" dirty="0" err="1">
                <a:solidFill>
                  <a:srgbClr val="002060"/>
                </a:solidFill>
                <a:latin typeface="Goudy Old Style" panose="02020502050305020303" pitchFamily="18" charset="0"/>
                <a:ea typeface="Cambria Math" panose="02040503050406030204" pitchFamily="18" charset="0"/>
                <a:cs typeface="Inter" pitchFamily="34" charset="-120"/>
              </a:rPr>
              <a:t>ArrayList</a:t>
            </a:r>
            <a:r>
              <a:rPr lang="en-US" sz="1600" kern="0" spc="-26" dirty="0">
                <a:solidFill>
                  <a:srgbClr val="002060"/>
                </a:solidFill>
                <a:latin typeface="Goudy Old Style" panose="02020502050305020303" pitchFamily="18" charset="0"/>
                <a:ea typeface="Cambria Math" panose="02040503050406030204" pitchFamily="18" charset="0"/>
                <a:cs typeface="Inter" pitchFamily="34" charset="-120"/>
              </a:rPr>
              <a:t>) or update the cart in a database (local or remote).</a:t>
            </a:r>
            <a:endParaRPr lang="en-US" sz="1600" dirty="0">
              <a:solidFill>
                <a:srgbClr val="002060"/>
              </a:solidFill>
              <a:latin typeface="Goudy Old Style" panose="02020502050305020303" pitchFamily="18" charset="0"/>
              <a:ea typeface="Cambria Math" panose="02040503050406030204" pitchFamily="18" charset="0"/>
            </a:endParaRPr>
          </a:p>
          <a:p>
            <a:pPr marL="0" indent="0" algn="just">
              <a:lnSpc>
                <a:spcPts val="2082"/>
              </a:lnSpc>
              <a:buSzPct val="100000"/>
              <a:buNone/>
            </a:pPr>
            <a:r>
              <a:rPr lang="en-US" sz="1800" b="1" kern="0" spc="-26" dirty="0">
                <a:solidFill>
                  <a:srgbClr val="002060"/>
                </a:solidFill>
                <a:latin typeface="Goudy Old Style" panose="02020502050305020303" pitchFamily="18" charset="0"/>
                <a:ea typeface="Inter" pitchFamily="34" charset="-122"/>
                <a:cs typeface="Inter" pitchFamily="34" charset="-120"/>
              </a:rPr>
              <a:t>Navigation</a:t>
            </a:r>
            <a:r>
              <a:rPr lang="en-US" sz="1600" b="1" kern="0" spc="-26" dirty="0">
                <a:solidFill>
                  <a:srgbClr val="002060"/>
                </a:solidFill>
                <a:latin typeface="Cambria Math" panose="02040503050406030204" pitchFamily="18" charset="0"/>
                <a:ea typeface="Cambria Math" panose="02040503050406030204" pitchFamily="18" charset="0"/>
                <a:cs typeface="Inter" pitchFamily="34" charset="-120"/>
              </a:rPr>
              <a:t>:</a:t>
            </a:r>
            <a:r>
              <a:rPr lang="en-US" sz="1600" kern="0" spc="-26" dirty="0">
                <a:solidFill>
                  <a:srgbClr val="002060"/>
                </a:solidFill>
                <a:latin typeface="Cambria Math" panose="02040503050406030204" pitchFamily="18" charset="0"/>
                <a:ea typeface="Cambria Math" panose="02040503050406030204" pitchFamily="18" charset="0"/>
                <a:cs typeface="Inter" pitchFamily="34" charset="-120"/>
              </a:rPr>
              <a:t> </a:t>
            </a:r>
            <a:r>
              <a:rPr lang="en-US" sz="1600" kern="0" spc="-26" dirty="0">
                <a:solidFill>
                  <a:srgbClr val="002060"/>
                </a:solidFill>
                <a:latin typeface="Goudy Old Style" panose="02020502050305020303" pitchFamily="18" charset="0"/>
                <a:ea typeface="Cambria Math" panose="02040503050406030204" pitchFamily="18" charset="0"/>
                <a:cs typeface="Inter" pitchFamily="34" charset="-120"/>
              </a:rPr>
              <a:t>After adding to cart, navigate the user back to the previous screen or to a dedicated cart view.</a:t>
            </a:r>
            <a:endParaRPr lang="en-US" sz="1600" dirty="0">
              <a:solidFill>
                <a:srgbClr val="002060"/>
              </a:solidFill>
              <a:latin typeface="Goudy Old Style" panose="02020502050305020303" pitchFamily="18" charset="0"/>
              <a:ea typeface="Cambria Math" panose="02040503050406030204" pitchFamily="18" charset="0"/>
            </a:endParaRPr>
          </a:p>
          <a:p>
            <a:pPr marL="0" indent="0" algn="just">
              <a:lnSpc>
                <a:spcPts val="2082"/>
              </a:lnSpc>
              <a:buSzPct val="100000"/>
              <a:buNone/>
            </a:pPr>
            <a:endParaRPr lang="en-US" sz="1600" dirty="0">
              <a:latin typeface="Cambria Math" panose="02040503050406030204" pitchFamily="18" charset="0"/>
              <a:ea typeface="Cambria Math" panose="02040503050406030204" pitchFamily="18" charset="0"/>
            </a:endParaRPr>
          </a:p>
          <a:p>
            <a:pPr marL="0" indent="0">
              <a:lnSpc>
                <a:spcPts val="2799"/>
              </a:lnSpc>
              <a:buNone/>
            </a:pPr>
            <a:endParaRPr lang="en-US" sz="1400" b="1" dirty="0">
              <a:solidFill>
                <a:schemeClr val="bg2">
                  <a:lumMod val="10000"/>
                </a:schemeClr>
              </a:solidFill>
              <a:latin typeface="Baskerville Old Face" panose="02020602080505020303" pitchFamily="18" charset="0"/>
              <a:ea typeface="Crimson Text" pitchFamily="34" charset="-122"/>
              <a:cs typeface="Crimson Text" pitchFamily="34" charset="-120"/>
            </a:endParaRPr>
          </a:p>
          <a:p>
            <a:pPr marL="0" indent="0">
              <a:lnSpc>
                <a:spcPts val="2799"/>
              </a:lnSpc>
              <a:buNone/>
            </a:pPr>
            <a:endParaRPr lang="en-US" sz="1400" dirty="0">
              <a:solidFill>
                <a:schemeClr val="bg2">
                  <a:lumMod val="10000"/>
                </a:schemeClr>
              </a:solidFill>
              <a:latin typeface="Cambria Math" panose="02040503050406030204" pitchFamily="18" charset="0"/>
              <a:ea typeface="Cambria Math" panose="02040503050406030204" pitchFamily="18" charset="0"/>
            </a:endParaRPr>
          </a:p>
          <a:p>
            <a:pPr marL="0" indent="0">
              <a:lnSpc>
                <a:spcPts val="2799"/>
              </a:lnSpc>
              <a:buNone/>
            </a:pPr>
            <a:endParaRPr lang="en-US" sz="1400" b="1" dirty="0">
              <a:solidFill>
                <a:schemeClr val="bg2">
                  <a:lumMod val="10000"/>
                </a:schemeClr>
              </a:solidFill>
              <a:latin typeface="Baskerville Old Face" panose="02020602080505020303" pitchFamily="18" charset="0"/>
              <a:ea typeface="Crimson Text" pitchFamily="34" charset="-122"/>
              <a:cs typeface="Crimson Text" pitchFamily="34" charset="-120"/>
            </a:endParaRPr>
          </a:p>
          <a:p>
            <a:pPr marL="0" indent="0">
              <a:lnSpc>
                <a:spcPts val="2799"/>
              </a:lnSpc>
              <a:buNone/>
            </a:pPr>
            <a:endParaRPr lang="en-US" sz="1600" dirty="0">
              <a:solidFill>
                <a:schemeClr val="bg2">
                  <a:lumMod val="10000"/>
                </a:schemeClr>
              </a:solidFill>
              <a:latin typeface="Baskerville Old Face" panose="02020602080505020303" pitchFamily="18" charset="0"/>
            </a:endParaRPr>
          </a:p>
          <a:p>
            <a:pPr marL="0" indent="0">
              <a:lnSpc>
                <a:spcPts val="2799"/>
              </a:lnSpc>
              <a:buNone/>
            </a:pPr>
            <a:endParaRPr lang="en-US" sz="2000" dirty="0">
              <a:latin typeface="Goudy Old Style" panose="02020502050305020303"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rcRect/>
          <a:stretch/>
        </p:blipFill>
        <p:spPr>
          <a:xfrm>
            <a:off x="335281" y="341207"/>
            <a:ext cx="2834640" cy="6141720"/>
          </a:xfrm>
          <a:prstGeom prst="rect">
            <a:avLst/>
          </a:prstGeom>
        </p:spPr>
      </p:pic>
    </p:spTree>
    <p:extLst>
      <p:ext uri="{BB962C8B-B14F-4D97-AF65-F5344CB8AC3E}">
        <p14:creationId xmlns:p14="http://schemas.microsoft.com/office/powerpoint/2010/main" val="26277951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10774" y="999067"/>
            <a:ext cx="5575182" cy="878280"/>
          </a:xfrm>
        </p:spPr>
        <p:txBody>
          <a:bodyPr>
            <a:normAutofit/>
          </a:bodyPr>
          <a:lstStyle/>
          <a:p>
            <a:pPr>
              <a:lnSpc>
                <a:spcPts val="3827"/>
              </a:lnSpc>
            </a:pPr>
            <a:r>
              <a:rPr lang="en-US" b="1" kern="0" spc="-92" dirty="0">
                <a:solidFill>
                  <a:schemeClr val="accent6"/>
                </a:solidFill>
                <a:latin typeface="Goudy Old Style" panose="02020502050305020303" pitchFamily="18" charset="0"/>
                <a:ea typeface="Inter" pitchFamily="34" charset="-122"/>
                <a:cs typeface="Inter" pitchFamily="34" charset="-120"/>
              </a:rPr>
              <a:t>7.ORDER PLACEMENT</a:t>
            </a:r>
            <a:endParaRPr lang="en-US" dirty="0">
              <a:solidFill>
                <a:schemeClr val="accent6"/>
              </a:solidFill>
              <a:latin typeface="Goudy Old Style" panose="02020502050305020303" pitchFamily="18" charset="0"/>
            </a:endParaRPr>
          </a:p>
        </p:txBody>
      </p:sp>
      <p:sp>
        <p:nvSpPr>
          <p:cNvPr id="3" name="Content Placeholder 2"/>
          <p:cNvSpPr>
            <a:spLocks noGrp="1"/>
          </p:cNvSpPr>
          <p:nvPr>
            <p:ph idx="1"/>
          </p:nvPr>
        </p:nvSpPr>
        <p:spPr>
          <a:xfrm>
            <a:off x="4251158" y="3023936"/>
            <a:ext cx="6899441" cy="1810529"/>
          </a:xfrm>
          <a:ln>
            <a:noFill/>
          </a:ln>
        </p:spPr>
        <p:txBody>
          <a:bodyPr>
            <a:normAutofit/>
          </a:bodyPr>
          <a:lstStyle/>
          <a:p>
            <a:pPr marL="0" indent="0">
              <a:lnSpc>
                <a:spcPts val="2326"/>
              </a:lnSpc>
              <a:buNone/>
            </a:pPr>
            <a:r>
              <a:rPr lang="en-US" sz="1600" b="1" kern="0" spc="-29" dirty="0">
                <a:solidFill>
                  <a:srgbClr val="002060"/>
                </a:solidFill>
                <a:latin typeface="Goudy Old Style" panose="02020502050305020303" pitchFamily="18" charset="0"/>
                <a:ea typeface="Inter" pitchFamily="34" charset="-122"/>
                <a:cs typeface="Inter" pitchFamily="34" charset="-120"/>
              </a:rPr>
              <a:t>Order Summary</a:t>
            </a:r>
            <a:r>
              <a:rPr lang="en-US" sz="1600" b="1" kern="0" spc="-29" dirty="0">
                <a:solidFill>
                  <a:srgbClr val="002060"/>
                </a:solidFill>
                <a:latin typeface="Cambria Math" panose="02040503050406030204" pitchFamily="18" charset="0"/>
                <a:ea typeface="Cambria Math" panose="02040503050406030204" pitchFamily="18" charset="0"/>
                <a:cs typeface="Inter" pitchFamily="34" charset="-120"/>
              </a:rPr>
              <a:t>:</a:t>
            </a:r>
            <a:r>
              <a:rPr lang="en-US" sz="1600" kern="0" spc="-29" dirty="0">
                <a:solidFill>
                  <a:srgbClr val="002060"/>
                </a:solidFill>
                <a:latin typeface="Cambria Math" panose="02040503050406030204" pitchFamily="18" charset="0"/>
                <a:ea typeface="Cambria Math" panose="02040503050406030204" pitchFamily="18" charset="0"/>
                <a:cs typeface="Inter" pitchFamily="34" charset="-120"/>
              </a:rPr>
              <a:t> </a:t>
            </a:r>
            <a:r>
              <a:rPr lang="en-US" sz="1600" kern="0" spc="-29" dirty="0">
                <a:solidFill>
                  <a:srgbClr val="002060"/>
                </a:solidFill>
                <a:latin typeface="Goudy Old Style" panose="02020502050305020303" pitchFamily="18" charset="0"/>
                <a:ea typeface="Cambria Math" panose="02040503050406030204" pitchFamily="18" charset="0"/>
                <a:cs typeface="Inter" pitchFamily="34" charset="-120"/>
              </a:rPr>
              <a:t>Show a summary section displaying total order amount, taxes (if applicable), and any additional charges like shipping fees.</a:t>
            </a:r>
            <a:endParaRPr lang="en-US" sz="1600" dirty="0">
              <a:solidFill>
                <a:srgbClr val="002060"/>
              </a:solidFill>
              <a:latin typeface="Goudy Old Style" panose="02020502050305020303" pitchFamily="18" charset="0"/>
              <a:ea typeface="Cambria Math" panose="02040503050406030204" pitchFamily="18" charset="0"/>
            </a:endParaRPr>
          </a:p>
          <a:p>
            <a:pPr marL="0" indent="0" algn="just">
              <a:lnSpc>
                <a:spcPts val="2082"/>
              </a:lnSpc>
              <a:buSzPct val="100000"/>
              <a:buNone/>
            </a:pPr>
            <a:r>
              <a:rPr lang="en-US" sz="1600" b="1" kern="0" spc="-29" dirty="0">
                <a:solidFill>
                  <a:srgbClr val="002060"/>
                </a:solidFill>
                <a:latin typeface="Goudy Old Style" panose="02020502050305020303" pitchFamily="18" charset="0"/>
                <a:ea typeface="Inter" pitchFamily="34" charset="-122"/>
                <a:cs typeface="Inter" pitchFamily="34" charset="-120"/>
              </a:rPr>
              <a:t>Order Placement:</a:t>
            </a:r>
            <a:r>
              <a:rPr lang="en-US" sz="1600" kern="0" spc="-29" dirty="0">
                <a:solidFill>
                  <a:srgbClr val="002060"/>
                </a:solidFill>
                <a:latin typeface="Goudy Old Style" panose="02020502050305020303" pitchFamily="18" charset="0"/>
                <a:ea typeface="Inter" pitchFamily="34" charset="-122"/>
                <a:cs typeface="Inter" pitchFamily="34" charset="-120"/>
              </a:rPr>
              <a:t> </a:t>
            </a:r>
            <a:r>
              <a:rPr lang="en-US" sz="1600" kern="0" spc="-29" dirty="0">
                <a:solidFill>
                  <a:srgbClr val="002060"/>
                </a:solidFill>
                <a:latin typeface="Goudy Old Style" panose="02020502050305020303" pitchFamily="18" charset="0"/>
                <a:ea typeface="Cambria Math" panose="02040503050406030204" pitchFamily="18" charset="0"/>
                <a:cs typeface="Inter" pitchFamily="34" charset="-120"/>
              </a:rPr>
              <a:t>Implement </a:t>
            </a:r>
            <a:r>
              <a:rPr lang="en-US" sz="1600" kern="0" spc="-29" dirty="0" err="1">
                <a:solidFill>
                  <a:srgbClr val="002060"/>
                </a:solidFill>
                <a:latin typeface="Goudy Old Style" panose="02020502050305020303" pitchFamily="18" charset="0"/>
                <a:ea typeface="Cambria Math" panose="02040503050406030204" pitchFamily="18" charset="0"/>
                <a:cs typeface="Inter" pitchFamily="34" charset="-120"/>
              </a:rPr>
              <a:t>onClickListener</a:t>
            </a:r>
            <a:r>
              <a:rPr lang="en-US" sz="1600" kern="0" spc="-29" dirty="0">
                <a:solidFill>
                  <a:srgbClr val="002060"/>
                </a:solidFill>
                <a:latin typeface="Goudy Old Style" panose="02020502050305020303" pitchFamily="18" charset="0"/>
                <a:ea typeface="Cambria Math" panose="02040503050406030204" pitchFamily="18" charset="0"/>
                <a:cs typeface="Inter" pitchFamily="34" charset="-120"/>
              </a:rPr>
              <a:t> for the “ORDER NOW“ button. Validate user inputs, process payment and navigates the screen to the next screen for processing the payment </a:t>
            </a:r>
            <a:endParaRPr lang="en-US" sz="1600" dirty="0">
              <a:solidFill>
                <a:srgbClr val="002060"/>
              </a:solidFill>
              <a:latin typeface="Goudy Old Style" panose="02020502050305020303" pitchFamily="18" charset="0"/>
              <a:ea typeface="Cambria Math" panose="02040503050406030204" pitchFamily="18" charset="0"/>
            </a:endParaRPr>
          </a:p>
          <a:p>
            <a:pPr marL="0" indent="0" algn="just">
              <a:lnSpc>
                <a:spcPts val="2082"/>
              </a:lnSpc>
              <a:buSzPct val="100000"/>
              <a:buNone/>
            </a:pPr>
            <a:endParaRPr lang="en-US" sz="1400" dirty="0">
              <a:solidFill>
                <a:srgbClr val="002060"/>
              </a:solidFill>
              <a:latin typeface="Goudy Old Style" panose="02020502050305020303" pitchFamily="18" charset="0"/>
            </a:endParaRPr>
          </a:p>
          <a:p>
            <a:pPr marL="0" indent="0">
              <a:lnSpc>
                <a:spcPts val="2799"/>
              </a:lnSpc>
              <a:buNone/>
            </a:pPr>
            <a:endParaRPr lang="en-US" sz="1400" b="1" dirty="0">
              <a:solidFill>
                <a:schemeClr val="bg2">
                  <a:lumMod val="10000"/>
                </a:schemeClr>
              </a:solidFill>
              <a:latin typeface="Baskerville Old Face" panose="02020602080505020303" pitchFamily="18" charset="0"/>
              <a:ea typeface="Crimson Text" pitchFamily="34" charset="-122"/>
              <a:cs typeface="Crimson Text" pitchFamily="34" charset="-120"/>
            </a:endParaRPr>
          </a:p>
          <a:p>
            <a:pPr marL="0" indent="0">
              <a:lnSpc>
                <a:spcPts val="2799"/>
              </a:lnSpc>
              <a:buNone/>
            </a:pPr>
            <a:endParaRPr lang="en-US" sz="1400" dirty="0">
              <a:solidFill>
                <a:schemeClr val="bg2">
                  <a:lumMod val="10000"/>
                </a:schemeClr>
              </a:solidFill>
              <a:latin typeface="Cambria Math" panose="02040503050406030204" pitchFamily="18" charset="0"/>
              <a:ea typeface="Cambria Math" panose="02040503050406030204" pitchFamily="18" charset="0"/>
            </a:endParaRPr>
          </a:p>
          <a:p>
            <a:pPr marL="0" indent="0">
              <a:lnSpc>
                <a:spcPts val="2799"/>
              </a:lnSpc>
              <a:buNone/>
            </a:pPr>
            <a:endParaRPr lang="en-US" sz="1400" b="1" dirty="0">
              <a:solidFill>
                <a:schemeClr val="bg2">
                  <a:lumMod val="10000"/>
                </a:schemeClr>
              </a:solidFill>
              <a:latin typeface="Baskerville Old Face" panose="02020602080505020303" pitchFamily="18" charset="0"/>
              <a:ea typeface="Crimson Text" pitchFamily="34" charset="-122"/>
              <a:cs typeface="Crimson Text" pitchFamily="34" charset="-120"/>
            </a:endParaRPr>
          </a:p>
          <a:p>
            <a:pPr marL="0" indent="0">
              <a:lnSpc>
                <a:spcPts val="2799"/>
              </a:lnSpc>
              <a:buNone/>
            </a:pPr>
            <a:endParaRPr lang="en-US" sz="1600" dirty="0">
              <a:solidFill>
                <a:schemeClr val="bg2">
                  <a:lumMod val="10000"/>
                </a:schemeClr>
              </a:solidFill>
              <a:latin typeface="Baskerville Old Face" panose="02020602080505020303" pitchFamily="18" charset="0"/>
            </a:endParaRPr>
          </a:p>
          <a:p>
            <a:pPr marL="0" indent="0">
              <a:lnSpc>
                <a:spcPts val="2799"/>
              </a:lnSpc>
              <a:buNone/>
            </a:pPr>
            <a:endParaRPr lang="en-US" sz="2000" dirty="0">
              <a:latin typeface="Goudy Old Style" panose="02020502050305020303"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rcRect/>
          <a:stretch/>
        </p:blipFill>
        <p:spPr>
          <a:xfrm>
            <a:off x="335281" y="341207"/>
            <a:ext cx="2834640" cy="6141720"/>
          </a:xfrm>
          <a:prstGeom prst="rect">
            <a:avLst/>
          </a:prstGeom>
        </p:spPr>
      </p:pic>
    </p:spTree>
    <p:extLst>
      <p:ext uri="{BB962C8B-B14F-4D97-AF65-F5344CB8AC3E}">
        <p14:creationId xmlns:p14="http://schemas.microsoft.com/office/powerpoint/2010/main" val="18385828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07306" y="705852"/>
            <a:ext cx="6320590" cy="529389"/>
          </a:xfrm>
        </p:spPr>
        <p:txBody>
          <a:bodyPr>
            <a:normAutofit fontScale="90000"/>
          </a:bodyPr>
          <a:lstStyle/>
          <a:p>
            <a:pPr>
              <a:lnSpc>
                <a:spcPts val="3827"/>
              </a:lnSpc>
            </a:pPr>
            <a:r>
              <a:rPr lang="en-US" b="1" kern="0" spc="-92" dirty="0">
                <a:solidFill>
                  <a:schemeClr val="accent6"/>
                </a:solidFill>
                <a:latin typeface="Goudy Old Style" panose="02020502050305020303" pitchFamily="18" charset="0"/>
                <a:ea typeface="Inter" pitchFamily="34" charset="-122"/>
                <a:cs typeface="Inter" pitchFamily="34" charset="-120"/>
              </a:rPr>
              <a:t>8.ADDRESS DETAILS</a:t>
            </a:r>
            <a:endParaRPr lang="en-US" dirty="0">
              <a:solidFill>
                <a:schemeClr val="accent6"/>
              </a:solidFill>
              <a:latin typeface="Goudy Old Style" panose="02020502050305020303" pitchFamily="18" charset="0"/>
            </a:endParaRPr>
          </a:p>
        </p:txBody>
      </p:sp>
      <p:sp>
        <p:nvSpPr>
          <p:cNvPr id="3" name="Content Placeholder 2"/>
          <p:cNvSpPr>
            <a:spLocks noGrp="1"/>
          </p:cNvSpPr>
          <p:nvPr>
            <p:ph idx="1"/>
          </p:nvPr>
        </p:nvSpPr>
        <p:spPr>
          <a:xfrm>
            <a:off x="3473116" y="2422358"/>
            <a:ext cx="7652084" cy="3882190"/>
          </a:xfrm>
          <a:ln>
            <a:noFill/>
          </a:ln>
        </p:spPr>
        <p:txBody>
          <a:bodyPr>
            <a:normAutofit fontScale="92500" lnSpcReduction="20000"/>
          </a:bodyPr>
          <a:lstStyle/>
          <a:p>
            <a:pPr marL="285750" indent="-285750">
              <a:buFont typeface="Wingdings" panose="05000000000000000000" pitchFamily="2" charset="2"/>
              <a:buChar char="§"/>
            </a:pPr>
            <a:r>
              <a:rPr lang="en-US" sz="1600" dirty="0">
                <a:solidFill>
                  <a:srgbClr val="002060"/>
                </a:solidFill>
                <a:latin typeface="Goudy Old Style" panose="02020502050305020303" pitchFamily="18" charset="0"/>
                <a:ea typeface="Cambria Math" panose="02040503050406030204" pitchFamily="18" charset="0"/>
              </a:rPr>
              <a:t>The "Add Address" screen in the app is a crucial step that enables users to input their accurate address details for seamless payment processing.</a:t>
            </a:r>
          </a:p>
          <a:p>
            <a:pPr marL="285750" indent="-285750">
              <a:buFont typeface="Wingdings" panose="05000000000000000000" pitchFamily="2" charset="2"/>
              <a:buChar char="§"/>
            </a:pPr>
            <a:endParaRPr lang="en-US" sz="1600" dirty="0">
              <a:solidFill>
                <a:srgbClr val="002060"/>
              </a:solidFill>
              <a:latin typeface="Goudy Old Style" panose="02020502050305020303" pitchFamily="18" charset="0"/>
              <a:ea typeface="Cambria Math" panose="02040503050406030204" pitchFamily="18" charset="0"/>
            </a:endParaRPr>
          </a:p>
          <a:p>
            <a:pPr marL="285750" indent="-285750">
              <a:buFont typeface="Wingdings" panose="05000000000000000000" pitchFamily="2" charset="2"/>
              <a:buChar char="§"/>
            </a:pPr>
            <a:r>
              <a:rPr lang="en-US" sz="1600" dirty="0">
                <a:solidFill>
                  <a:srgbClr val="002060"/>
                </a:solidFill>
                <a:latin typeface="Goudy Old Style" panose="02020502050305020303" pitchFamily="18" charset="0"/>
                <a:ea typeface="Cambria Math" panose="02040503050406030204" pitchFamily="18" charset="0"/>
              </a:rPr>
              <a:t>Users can enter their Name, Full address, city, postal/zip code, and phone number to ensure the delivery of their purchases to the correct location.</a:t>
            </a:r>
            <a:endParaRPr lang="en-IN" sz="1600" dirty="0">
              <a:solidFill>
                <a:srgbClr val="002060"/>
              </a:solidFill>
              <a:latin typeface="Goudy Old Style" panose="02020502050305020303" pitchFamily="18" charset="0"/>
              <a:ea typeface="Cambria Math" panose="02040503050406030204" pitchFamily="18" charset="0"/>
            </a:endParaRPr>
          </a:p>
          <a:p>
            <a:pPr marL="285750" indent="-285750">
              <a:buFont typeface="Wingdings" panose="05000000000000000000" pitchFamily="2" charset="2"/>
              <a:buChar char="§"/>
            </a:pPr>
            <a:endParaRPr lang="en-IN" sz="1600" dirty="0">
              <a:solidFill>
                <a:srgbClr val="002060"/>
              </a:solidFill>
              <a:latin typeface="Goudy Old Style" panose="02020502050305020303" pitchFamily="18" charset="0"/>
              <a:ea typeface="Cambria Math" panose="02040503050406030204" pitchFamily="18" charset="0"/>
            </a:endParaRPr>
          </a:p>
          <a:p>
            <a:pPr marL="285750" indent="-285750">
              <a:buFont typeface="Wingdings" panose="05000000000000000000" pitchFamily="2" charset="2"/>
              <a:buChar char="§"/>
            </a:pPr>
            <a:r>
              <a:rPr lang="en-US" sz="1600" dirty="0">
                <a:solidFill>
                  <a:srgbClr val="002060"/>
                </a:solidFill>
                <a:latin typeface="Goudy Old Style" panose="02020502050305020303" pitchFamily="18" charset="0"/>
                <a:ea typeface="Cambria Math" panose="02040503050406030204" pitchFamily="18" charset="0"/>
              </a:rPr>
              <a:t>Once the address details are entered and saved, users can proceed confidently to the payment stage, knowing that their purchases will be shipped to the correct destination.</a:t>
            </a:r>
          </a:p>
          <a:p>
            <a:pPr marL="285750" indent="-285750">
              <a:buFont typeface="Wingdings" panose="05000000000000000000" pitchFamily="2" charset="2"/>
              <a:buChar char="§"/>
            </a:pPr>
            <a:endParaRPr lang="en-US" sz="1600" dirty="0">
              <a:solidFill>
                <a:srgbClr val="002060"/>
              </a:solidFill>
              <a:latin typeface="Goudy Old Style" panose="02020502050305020303" pitchFamily="18" charset="0"/>
              <a:ea typeface="Cambria Math" panose="02040503050406030204" pitchFamily="18" charset="0"/>
            </a:endParaRPr>
          </a:p>
          <a:p>
            <a:pPr marL="285750" indent="-285750">
              <a:buFont typeface="Wingdings" panose="05000000000000000000" pitchFamily="2" charset="2"/>
              <a:buChar char="§"/>
            </a:pPr>
            <a:r>
              <a:rPr lang="en-US" sz="1600" dirty="0">
                <a:solidFill>
                  <a:srgbClr val="002060"/>
                </a:solidFill>
                <a:latin typeface="Goudy Old Style" panose="02020502050305020303" pitchFamily="18" charset="0"/>
                <a:ea typeface="Cambria Math" panose="02040503050406030204" pitchFamily="18" charset="0"/>
              </a:rPr>
              <a:t> The "Confirm Address" button on the Add Address screen verifies and validates the entered address details for accuracy and completeness.</a:t>
            </a:r>
          </a:p>
          <a:p>
            <a:pPr marL="285750" indent="-285750">
              <a:buFont typeface="Wingdings" panose="05000000000000000000" pitchFamily="2" charset="2"/>
              <a:buChar char="§"/>
            </a:pPr>
            <a:endParaRPr lang="en-US" sz="1600" dirty="0">
              <a:solidFill>
                <a:srgbClr val="002060"/>
              </a:solidFill>
              <a:latin typeface="Goudy Old Style" panose="02020502050305020303" pitchFamily="18" charset="0"/>
              <a:ea typeface="Cambria Math" panose="02040503050406030204" pitchFamily="18" charset="0"/>
            </a:endParaRPr>
          </a:p>
          <a:p>
            <a:pPr marL="285750" indent="-285750">
              <a:buFont typeface="Wingdings" panose="05000000000000000000" pitchFamily="2" charset="2"/>
              <a:buChar char="§"/>
            </a:pPr>
            <a:r>
              <a:rPr lang="en-US" sz="1600" dirty="0">
                <a:solidFill>
                  <a:srgbClr val="002060"/>
                </a:solidFill>
                <a:latin typeface="Goudy Old Style" panose="02020502050305020303" pitchFamily="18" charset="0"/>
                <a:ea typeface="Cambria Math" panose="02040503050406030204" pitchFamily="18" charset="0"/>
              </a:rPr>
              <a:t>Upon clicking this button, users are smoothly redirected to the next screen in the payment process, ensuring a seamless transition and accurate delivery information for their purchases.</a:t>
            </a:r>
          </a:p>
          <a:p>
            <a:pPr marL="0" indent="0" algn="just">
              <a:lnSpc>
                <a:spcPts val="2082"/>
              </a:lnSpc>
              <a:buSzPct val="100000"/>
              <a:buNone/>
            </a:pPr>
            <a:endParaRPr lang="en-US" sz="1400" dirty="0">
              <a:solidFill>
                <a:srgbClr val="002060"/>
              </a:solidFill>
              <a:latin typeface="Cambria Math" panose="02040503050406030204" pitchFamily="18" charset="0"/>
              <a:ea typeface="Cambria Math" panose="02040503050406030204" pitchFamily="18" charset="0"/>
            </a:endParaRPr>
          </a:p>
          <a:p>
            <a:pPr marL="0" indent="0">
              <a:lnSpc>
                <a:spcPts val="2799"/>
              </a:lnSpc>
              <a:buNone/>
            </a:pPr>
            <a:endParaRPr lang="en-US" sz="1400" b="1" dirty="0">
              <a:solidFill>
                <a:schemeClr val="bg2">
                  <a:lumMod val="10000"/>
                </a:schemeClr>
              </a:solidFill>
              <a:latin typeface="Baskerville Old Face" panose="02020602080505020303" pitchFamily="18" charset="0"/>
              <a:ea typeface="Crimson Text" pitchFamily="34" charset="-122"/>
              <a:cs typeface="Crimson Text" pitchFamily="34" charset="-120"/>
            </a:endParaRPr>
          </a:p>
          <a:p>
            <a:pPr marL="0" indent="0">
              <a:lnSpc>
                <a:spcPts val="2799"/>
              </a:lnSpc>
              <a:buNone/>
            </a:pPr>
            <a:endParaRPr lang="en-US" sz="1400" dirty="0">
              <a:solidFill>
                <a:schemeClr val="bg2">
                  <a:lumMod val="10000"/>
                </a:schemeClr>
              </a:solidFill>
              <a:latin typeface="Cambria Math" panose="02040503050406030204" pitchFamily="18" charset="0"/>
              <a:ea typeface="Cambria Math" panose="02040503050406030204" pitchFamily="18" charset="0"/>
            </a:endParaRPr>
          </a:p>
          <a:p>
            <a:pPr marL="0" indent="0">
              <a:lnSpc>
                <a:spcPts val="2799"/>
              </a:lnSpc>
              <a:buNone/>
            </a:pPr>
            <a:endParaRPr lang="en-US" sz="1400" b="1" dirty="0">
              <a:solidFill>
                <a:schemeClr val="bg2">
                  <a:lumMod val="10000"/>
                </a:schemeClr>
              </a:solidFill>
              <a:latin typeface="Baskerville Old Face" panose="02020602080505020303" pitchFamily="18" charset="0"/>
              <a:ea typeface="Crimson Text" pitchFamily="34" charset="-122"/>
              <a:cs typeface="Crimson Text" pitchFamily="34" charset="-120"/>
            </a:endParaRPr>
          </a:p>
          <a:p>
            <a:pPr marL="0" indent="0">
              <a:lnSpc>
                <a:spcPts val="2799"/>
              </a:lnSpc>
              <a:buNone/>
            </a:pPr>
            <a:endParaRPr lang="en-US" sz="1600" dirty="0">
              <a:solidFill>
                <a:schemeClr val="bg2">
                  <a:lumMod val="10000"/>
                </a:schemeClr>
              </a:solidFill>
              <a:latin typeface="Baskerville Old Face" panose="02020602080505020303" pitchFamily="18" charset="0"/>
            </a:endParaRPr>
          </a:p>
          <a:p>
            <a:pPr marL="0" indent="0">
              <a:lnSpc>
                <a:spcPts val="2799"/>
              </a:lnSpc>
              <a:buNone/>
            </a:pPr>
            <a:endParaRPr lang="en-US" sz="2000" dirty="0">
              <a:latin typeface="Goudy Old Style" panose="02020502050305020303"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rcRect/>
          <a:stretch/>
        </p:blipFill>
        <p:spPr>
          <a:xfrm>
            <a:off x="370714" y="341207"/>
            <a:ext cx="2763774" cy="6141720"/>
          </a:xfrm>
          <a:prstGeom prst="rect">
            <a:avLst/>
          </a:prstGeom>
        </p:spPr>
      </p:pic>
    </p:spTree>
    <p:extLst>
      <p:ext uri="{BB962C8B-B14F-4D97-AF65-F5344CB8AC3E}">
        <p14:creationId xmlns:p14="http://schemas.microsoft.com/office/powerpoint/2010/main" val="17731908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21885" y="821266"/>
            <a:ext cx="5575182" cy="878280"/>
          </a:xfrm>
        </p:spPr>
        <p:txBody>
          <a:bodyPr>
            <a:normAutofit fontScale="90000"/>
          </a:bodyPr>
          <a:lstStyle/>
          <a:p>
            <a:pPr>
              <a:lnSpc>
                <a:spcPts val="3827"/>
              </a:lnSpc>
            </a:pPr>
            <a:r>
              <a:rPr lang="en-US" b="1" kern="0" spc="-92" dirty="0">
                <a:solidFill>
                  <a:schemeClr val="accent6"/>
                </a:solidFill>
                <a:latin typeface="Goudy Old Style" panose="02020502050305020303" pitchFamily="18" charset="0"/>
                <a:ea typeface="Inter" pitchFamily="34" charset="-122"/>
                <a:cs typeface="Inter" pitchFamily="34" charset="-120"/>
              </a:rPr>
              <a:t>9.PROCEEDING TO PAYMET</a:t>
            </a:r>
            <a:endParaRPr lang="en-US" dirty="0">
              <a:solidFill>
                <a:schemeClr val="accent6"/>
              </a:solidFill>
              <a:latin typeface="Goudy Old Style" panose="02020502050305020303" pitchFamily="18" charset="0"/>
            </a:endParaRPr>
          </a:p>
        </p:txBody>
      </p:sp>
      <p:sp>
        <p:nvSpPr>
          <p:cNvPr id="3" name="Content Placeholder 2"/>
          <p:cNvSpPr>
            <a:spLocks noGrp="1"/>
          </p:cNvSpPr>
          <p:nvPr>
            <p:ph idx="1"/>
          </p:nvPr>
        </p:nvSpPr>
        <p:spPr>
          <a:xfrm>
            <a:off x="3850106" y="2703094"/>
            <a:ext cx="6546962" cy="2695073"/>
          </a:xfrm>
          <a:ln>
            <a:noFill/>
          </a:ln>
        </p:spPr>
        <p:txBody>
          <a:bodyPr>
            <a:normAutofit/>
          </a:bodyPr>
          <a:lstStyle/>
          <a:p>
            <a:pPr marL="0" indent="0" algn="just">
              <a:buNone/>
            </a:pPr>
            <a:r>
              <a:rPr lang="en-US" sz="1600" dirty="0">
                <a:solidFill>
                  <a:srgbClr val="002060"/>
                </a:solidFill>
                <a:latin typeface="Cambria Math" panose="02040503050406030204" pitchFamily="18" charset="0"/>
                <a:ea typeface="Cambria Math" panose="02040503050406030204" pitchFamily="18" charset="0"/>
              </a:rPr>
              <a:t>1.  </a:t>
            </a:r>
            <a:r>
              <a:rPr lang="en-US" sz="1600" dirty="0">
                <a:solidFill>
                  <a:srgbClr val="002060"/>
                </a:solidFill>
                <a:latin typeface="Goudy Old Style" panose="02020502050305020303" pitchFamily="18" charset="0"/>
                <a:ea typeface="Cambria Math" panose="02040503050406030204" pitchFamily="18" charset="0"/>
              </a:rPr>
              <a:t>After successful verification, users are seamlessly redirected to the next screen in the payment process, such as selecting a payment method or entering billing details.</a:t>
            </a:r>
          </a:p>
          <a:p>
            <a:pPr marL="0" indent="0" algn="just">
              <a:buNone/>
            </a:pPr>
            <a:r>
              <a:rPr lang="en-US" sz="1600" dirty="0">
                <a:solidFill>
                  <a:srgbClr val="002060"/>
                </a:solidFill>
                <a:latin typeface="Goudy Old Style" panose="02020502050305020303" pitchFamily="18" charset="0"/>
                <a:ea typeface="Cambria Math" panose="02040503050406030204" pitchFamily="18" charset="0"/>
              </a:rPr>
              <a:t>2.  This workflow ensures that users proceed through the         payment process with confidence, knowing that their shipping address is accurately confirmed for delivery.</a:t>
            </a:r>
          </a:p>
          <a:p>
            <a:pPr marL="0" indent="0" algn="just">
              <a:lnSpc>
                <a:spcPts val="2082"/>
              </a:lnSpc>
              <a:buSzPct val="100000"/>
              <a:buNone/>
            </a:pPr>
            <a:endParaRPr lang="en-US" sz="1600" dirty="0">
              <a:solidFill>
                <a:srgbClr val="002060"/>
              </a:solidFill>
              <a:latin typeface="Goudy Old Style" panose="02020502050305020303" pitchFamily="18" charset="0"/>
              <a:ea typeface="Cambria Math" panose="02040503050406030204" pitchFamily="18" charset="0"/>
            </a:endParaRPr>
          </a:p>
          <a:p>
            <a:pPr marL="0" indent="0">
              <a:lnSpc>
                <a:spcPts val="2799"/>
              </a:lnSpc>
              <a:buNone/>
            </a:pPr>
            <a:endParaRPr lang="en-US" sz="1400" b="1" dirty="0">
              <a:solidFill>
                <a:schemeClr val="bg2">
                  <a:lumMod val="10000"/>
                </a:schemeClr>
              </a:solidFill>
              <a:latin typeface="Baskerville Old Face" panose="02020602080505020303" pitchFamily="18" charset="0"/>
              <a:ea typeface="Crimson Text" pitchFamily="34" charset="-122"/>
              <a:cs typeface="Crimson Text" pitchFamily="34" charset="-120"/>
            </a:endParaRPr>
          </a:p>
          <a:p>
            <a:pPr marL="0" indent="0">
              <a:lnSpc>
                <a:spcPts val="2799"/>
              </a:lnSpc>
              <a:buNone/>
            </a:pPr>
            <a:endParaRPr lang="en-US" sz="1400" dirty="0">
              <a:solidFill>
                <a:schemeClr val="bg2">
                  <a:lumMod val="10000"/>
                </a:schemeClr>
              </a:solidFill>
              <a:latin typeface="Cambria Math" panose="02040503050406030204" pitchFamily="18" charset="0"/>
              <a:ea typeface="Cambria Math" panose="02040503050406030204" pitchFamily="18" charset="0"/>
            </a:endParaRPr>
          </a:p>
          <a:p>
            <a:pPr marL="0" indent="0">
              <a:lnSpc>
                <a:spcPts val="2799"/>
              </a:lnSpc>
              <a:buNone/>
            </a:pPr>
            <a:endParaRPr lang="en-US" sz="1400" b="1" dirty="0">
              <a:solidFill>
                <a:schemeClr val="bg2">
                  <a:lumMod val="10000"/>
                </a:schemeClr>
              </a:solidFill>
              <a:latin typeface="Baskerville Old Face" panose="02020602080505020303" pitchFamily="18" charset="0"/>
              <a:ea typeface="Crimson Text" pitchFamily="34" charset="-122"/>
              <a:cs typeface="Crimson Text" pitchFamily="34" charset="-120"/>
            </a:endParaRPr>
          </a:p>
          <a:p>
            <a:pPr marL="0" indent="0">
              <a:lnSpc>
                <a:spcPts val="2799"/>
              </a:lnSpc>
              <a:buNone/>
            </a:pPr>
            <a:endParaRPr lang="en-US" sz="1600" dirty="0">
              <a:solidFill>
                <a:schemeClr val="bg2">
                  <a:lumMod val="10000"/>
                </a:schemeClr>
              </a:solidFill>
              <a:latin typeface="Baskerville Old Face" panose="02020602080505020303" pitchFamily="18" charset="0"/>
            </a:endParaRPr>
          </a:p>
          <a:p>
            <a:pPr marL="0" indent="0">
              <a:lnSpc>
                <a:spcPts val="2799"/>
              </a:lnSpc>
              <a:buNone/>
            </a:pPr>
            <a:endParaRPr lang="en-US" sz="2000" dirty="0">
              <a:latin typeface="Goudy Old Style" panose="02020502050305020303"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rcRect/>
          <a:stretch/>
        </p:blipFill>
        <p:spPr>
          <a:xfrm>
            <a:off x="370714" y="341207"/>
            <a:ext cx="2763774" cy="6141720"/>
          </a:xfrm>
          <a:prstGeom prst="rect">
            <a:avLst/>
          </a:prstGeom>
        </p:spPr>
      </p:pic>
    </p:spTree>
    <p:extLst>
      <p:ext uri="{BB962C8B-B14F-4D97-AF65-F5344CB8AC3E}">
        <p14:creationId xmlns:p14="http://schemas.microsoft.com/office/powerpoint/2010/main" val="2939145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21885" y="905933"/>
            <a:ext cx="5575182" cy="878280"/>
          </a:xfrm>
        </p:spPr>
        <p:txBody>
          <a:bodyPr>
            <a:normAutofit fontScale="90000"/>
          </a:bodyPr>
          <a:lstStyle/>
          <a:p>
            <a:pPr>
              <a:lnSpc>
                <a:spcPts val="3827"/>
              </a:lnSpc>
            </a:pPr>
            <a:r>
              <a:rPr lang="en-US" b="1" kern="0" spc="-92" dirty="0">
                <a:solidFill>
                  <a:schemeClr val="accent6"/>
                </a:solidFill>
                <a:latin typeface="Goudy Old Style" panose="02020502050305020303" pitchFamily="18" charset="0"/>
                <a:ea typeface="Inter" pitchFamily="34" charset="-122"/>
                <a:cs typeface="Inter" pitchFamily="34" charset="-120"/>
              </a:rPr>
              <a:t>10.TRANSACTION-PAYMET</a:t>
            </a:r>
            <a:endParaRPr lang="en-US" dirty="0">
              <a:solidFill>
                <a:schemeClr val="accent6"/>
              </a:solidFill>
              <a:latin typeface="Goudy Old Style" panose="02020502050305020303" pitchFamily="18" charset="0"/>
            </a:endParaRPr>
          </a:p>
        </p:txBody>
      </p:sp>
      <p:sp>
        <p:nvSpPr>
          <p:cNvPr id="3" name="Content Placeholder 2"/>
          <p:cNvSpPr>
            <a:spLocks noGrp="1"/>
          </p:cNvSpPr>
          <p:nvPr>
            <p:ph idx="1"/>
          </p:nvPr>
        </p:nvSpPr>
        <p:spPr>
          <a:xfrm>
            <a:off x="3874168" y="2783305"/>
            <a:ext cx="6522899" cy="2728050"/>
          </a:xfrm>
          <a:ln>
            <a:noFill/>
          </a:ln>
        </p:spPr>
        <p:txBody>
          <a:bodyPr>
            <a:normAutofit/>
          </a:bodyPr>
          <a:lstStyle/>
          <a:p>
            <a:pPr marL="0" indent="0">
              <a:buNone/>
            </a:pPr>
            <a:r>
              <a:rPr lang="en-IN" sz="1800" dirty="0">
                <a:solidFill>
                  <a:srgbClr val="002060"/>
                </a:solidFill>
                <a:latin typeface="Bell MT" panose="02020503060305020303" pitchFamily="18" charset="0"/>
              </a:rPr>
              <a:t>1</a:t>
            </a:r>
            <a:r>
              <a:rPr lang="en-IN" sz="1800" dirty="0">
                <a:solidFill>
                  <a:srgbClr val="002060"/>
                </a:solidFill>
                <a:latin typeface="Goudy Old Style" panose="02020502050305020303" pitchFamily="18" charset="0"/>
              </a:rPr>
              <a:t>. After clicking "Pay Now," users are promptly notified with a "Transaction Successful" message, confirming that the payment has been processed without issues.</a:t>
            </a:r>
          </a:p>
          <a:p>
            <a:pPr marL="0" indent="0">
              <a:buNone/>
            </a:pPr>
            <a:r>
              <a:rPr lang="en-IN" sz="1800" dirty="0">
                <a:solidFill>
                  <a:srgbClr val="002060"/>
                </a:solidFill>
                <a:latin typeface="Goudy Old Style" panose="02020502050305020303" pitchFamily="18" charset="0"/>
              </a:rPr>
              <a:t>2. This final screen provides users with immediate feedback, ensuring a seamless and reassuring experience as they complete their transactions</a:t>
            </a:r>
            <a:r>
              <a:rPr lang="en-IN" sz="1800" dirty="0">
                <a:solidFill>
                  <a:srgbClr val="002060"/>
                </a:solidFill>
                <a:latin typeface="Bell MT" panose="02020503060305020303" pitchFamily="18" charset="0"/>
              </a:rPr>
              <a:t>.</a:t>
            </a:r>
          </a:p>
          <a:p>
            <a:pPr marL="0" indent="0" algn="just">
              <a:lnSpc>
                <a:spcPts val="2082"/>
              </a:lnSpc>
              <a:buSzPct val="100000"/>
              <a:buNone/>
            </a:pPr>
            <a:endParaRPr lang="en-US" sz="1600" dirty="0">
              <a:latin typeface="Cambria Math" panose="02040503050406030204" pitchFamily="18" charset="0"/>
              <a:ea typeface="Cambria Math" panose="02040503050406030204" pitchFamily="18" charset="0"/>
            </a:endParaRPr>
          </a:p>
          <a:p>
            <a:pPr marL="0" indent="0">
              <a:lnSpc>
                <a:spcPts val="2799"/>
              </a:lnSpc>
              <a:buNone/>
            </a:pPr>
            <a:endParaRPr lang="en-US" sz="1400" b="1" dirty="0">
              <a:solidFill>
                <a:schemeClr val="bg2">
                  <a:lumMod val="10000"/>
                </a:schemeClr>
              </a:solidFill>
              <a:latin typeface="Baskerville Old Face" panose="02020602080505020303" pitchFamily="18" charset="0"/>
              <a:ea typeface="Crimson Text" pitchFamily="34" charset="-122"/>
              <a:cs typeface="Crimson Text" pitchFamily="34" charset="-120"/>
            </a:endParaRPr>
          </a:p>
          <a:p>
            <a:pPr marL="0" indent="0">
              <a:lnSpc>
                <a:spcPts val="2799"/>
              </a:lnSpc>
              <a:buNone/>
            </a:pPr>
            <a:endParaRPr lang="en-US" sz="1400" dirty="0">
              <a:solidFill>
                <a:schemeClr val="bg2">
                  <a:lumMod val="10000"/>
                </a:schemeClr>
              </a:solidFill>
              <a:latin typeface="Cambria Math" panose="02040503050406030204" pitchFamily="18" charset="0"/>
              <a:ea typeface="Cambria Math" panose="02040503050406030204" pitchFamily="18" charset="0"/>
            </a:endParaRPr>
          </a:p>
          <a:p>
            <a:pPr marL="0" indent="0">
              <a:lnSpc>
                <a:spcPts val="2799"/>
              </a:lnSpc>
              <a:buNone/>
            </a:pPr>
            <a:endParaRPr lang="en-US" sz="1400" b="1" dirty="0">
              <a:solidFill>
                <a:schemeClr val="bg2">
                  <a:lumMod val="10000"/>
                </a:schemeClr>
              </a:solidFill>
              <a:latin typeface="Baskerville Old Face" panose="02020602080505020303" pitchFamily="18" charset="0"/>
              <a:ea typeface="Crimson Text" pitchFamily="34" charset="-122"/>
              <a:cs typeface="Crimson Text" pitchFamily="34" charset="-120"/>
            </a:endParaRPr>
          </a:p>
          <a:p>
            <a:pPr marL="0" indent="0">
              <a:lnSpc>
                <a:spcPts val="2799"/>
              </a:lnSpc>
              <a:buNone/>
            </a:pPr>
            <a:endParaRPr lang="en-US" sz="1600" dirty="0">
              <a:solidFill>
                <a:schemeClr val="bg2">
                  <a:lumMod val="10000"/>
                </a:schemeClr>
              </a:solidFill>
              <a:latin typeface="Baskerville Old Face" panose="02020602080505020303" pitchFamily="18" charset="0"/>
            </a:endParaRPr>
          </a:p>
          <a:p>
            <a:pPr marL="0" indent="0">
              <a:lnSpc>
                <a:spcPts val="2799"/>
              </a:lnSpc>
              <a:buNone/>
            </a:pPr>
            <a:endParaRPr lang="en-US" sz="2000" dirty="0">
              <a:latin typeface="Goudy Old Style" panose="02020502050305020303"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rcRect/>
          <a:stretch/>
        </p:blipFill>
        <p:spPr>
          <a:xfrm>
            <a:off x="335281" y="341207"/>
            <a:ext cx="2834640" cy="6141720"/>
          </a:xfrm>
          <a:prstGeom prst="rect">
            <a:avLst/>
          </a:prstGeom>
        </p:spPr>
      </p:pic>
    </p:spTree>
    <p:extLst>
      <p:ext uri="{BB962C8B-B14F-4D97-AF65-F5344CB8AC3E}">
        <p14:creationId xmlns:p14="http://schemas.microsoft.com/office/powerpoint/2010/main" val="11066943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AF391-CA15-2867-8882-DC084B119A6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733E575-BF16-BBD1-4D14-B37F0870F424}"/>
              </a:ext>
            </a:extLst>
          </p:cNvPr>
          <p:cNvSpPr>
            <a:spLocks noGrp="1"/>
          </p:cNvSpPr>
          <p:nvPr>
            <p:ph idx="1"/>
          </p:nvPr>
        </p:nvSpPr>
        <p:spPr/>
        <p:txBody>
          <a:bodyPr>
            <a:normAutofit/>
          </a:bodyPr>
          <a:lstStyle/>
          <a:p>
            <a:r>
              <a:rPr lang="en-IN" sz="4800" dirty="0"/>
              <a:t>THANK YOU</a:t>
            </a:r>
          </a:p>
        </p:txBody>
      </p:sp>
    </p:spTree>
    <p:extLst>
      <p:ext uri="{BB962C8B-B14F-4D97-AF65-F5344CB8AC3E}">
        <p14:creationId xmlns:p14="http://schemas.microsoft.com/office/powerpoint/2010/main" val="30718902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CherryBlossom">
      <a:dk1>
        <a:srgbClr val="595959"/>
      </a:dk1>
      <a:lt1>
        <a:sysClr val="window" lastClr="FFFFFF"/>
      </a:lt1>
      <a:dk2>
        <a:srgbClr val="000000"/>
      </a:dk2>
      <a:lt2>
        <a:srgbClr val="F6F7E4"/>
      </a:lt2>
      <a:accent1>
        <a:srgbClr val="C44475"/>
      </a:accent1>
      <a:accent2>
        <a:srgbClr val="FA906A"/>
      </a:accent2>
      <a:accent3>
        <a:srgbClr val="FCB268"/>
      </a:accent3>
      <a:accent4>
        <a:srgbClr val="DB6B70"/>
      </a:accent4>
      <a:accent5>
        <a:srgbClr val="D680A5"/>
      </a:accent5>
      <a:accent6>
        <a:srgbClr val="BA7362"/>
      </a:accent6>
      <a:hlink>
        <a:srgbClr val="DB6B70"/>
      </a:hlink>
      <a:folHlink>
        <a:srgbClr val="969696"/>
      </a:folHlink>
    </a:clrScheme>
    <a:fontScheme name="Cambria">
      <a:majorFont>
        <a:latin typeface="Cambr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mbr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CherryBlossom">
      <a:dk1>
        <a:srgbClr val="595959"/>
      </a:dk1>
      <a:lt1>
        <a:sysClr val="window" lastClr="FFFFFF"/>
      </a:lt1>
      <a:dk2>
        <a:srgbClr val="000000"/>
      </a:dk2>
      <a:lt2>
        <a:srgbClr val="F6F7E4"/>
      </a:lt2>
      <a:accent1>
        <a:srgbClr val="C44475"/>
      </a:accent1>
      <a:accent2>
        <a:srgbClr val="FA906A"/>
      </a:accent2>
      <a:accent3>
        <a:srgbClr val="FCB268"/>
      </a:accent3>
      <a:accent4>
        <a:srgbClr val="DB6B70"/>
      </a:accent4>
      <a:accent5>
        <a:srgbClr val="D680A5"/>
      </a:accent5>
      <a:accent6>
        <a:srgbClr val="BA7362"/>
      </a:accent6>
      <a:hlink>
        <a:srgbClr val="DB6B70"/>
      </a:hlink>
      <a:folHlink>
        <a:srgbClr val="969696"/>
      </a:folHlink>
    </a:clrScheme>
    <a:fontScheme name="Cambria">
      <a:majorFont>
        <a:latin typeface="Cambr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mbr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TM02900722[[fn=Ion Boardroom]]</Template>
  <TotalTime>162</TotalTime>
  <Words>1367</Words>
  <Application>Microsoft Office PowerPoint</Application>
  <PresentationFormat>Widescreen</PresentationFormat>
  <Paragraphs>96</Paragraphs>
  <Slides>16</Slides>
  <Notes>1</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16</vt:i4>
      </vt:variant>
    </vt:vector>
  </HeadingPairs>
  <TitlesOfParts>
    <vt:vector size="29" baseType="lpstr">
      <vt:lpstr>Microsoft JhengHei Light</vt:lpstr>
      <vt:lpstr>Arial</vt:lpstr>
      <vt:lpstr>Baskerville Old Face</vt:lpstr>
      <vt:lpstr>Bell MT</vt:lpstr>
      <vt:lpstr>Cambria</vt:lpstr>
      <vt:lpstr>Cambria Math</vt:lpstr>
      <vt:lpstr>Century Gothic</vt:lpstr>
      <vt:lpstr>Century Schoolbook</vt:lpstr>
      <vt:lpstr>Goudy Old Style</vt:lpstr>
      <vt:lpstr>Inter</vt:lpstr>
      <vt:lpstr>Wingdings</vt:lpstr>
      <vt:lpstr>Wingdings 3</vt:lpstr>
      <vt:lpstr>Ion Boardroom</vt:lpstr>
      <vt:lpstr>PowerPoint Presentation</vt:lpstr>
      <vt:lpstr>PROJECT ABSTRACT</vt:lpstr>
      <vt:lpstr>PROJECT  INTRODUCTION</vt:lpstr>
      <vt:lpstr>1. SPLASH SCREEN</vt:lpstr>
      <vt:lpstr>2. WELCOME SCREEN</vt:lpstr>
      <vt:lpstr>3.  SIGNUP SCREEN</vt:lpstr>
      <vt:lpstr>4.  LOGIN SCREEN</vt:lpstr>
      <vt:lpstr>5.  HOME SCREEN</vt:lpstr>
      <vt:lpstr>SEARCH IMPLEMENTATION</vt:lpstr>
      <vt:lpstr>MENU</vt:lpstr>
      <vt:lpstr>6.PRODUCT DETAILS</vt:lpstr>
      <vt:lpstr>7.ORDER PLACEMENT</vt:lpstr>
      <vt:lpstr>8.ADDRESS DETAILS</vt:lpstr>
      <vt:lpstr>9.PROCEEDING TO PAYMET</vt:lpstr>
      <vt:lpstr>10.TRANSACTION-PAYMET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afrinfarhaana@outlook.com</cp:lastModifiedBy>
  <cp:revision>28</cp:revision>
  <dcterms:created xsi:type="dcterms:W3CDTF">2024-04-02T14:31:05Z</dcterms:created>
  <dcterms:modified xsi:type="dcterms:W3CDTF">2025-03-05T12:27:04Z</dcterms:modified>
</cp:coreProperties>
</file>